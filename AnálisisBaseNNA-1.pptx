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3" d="100"/>
          <a:sy n="43" d="100"/>
        </p:scale>
        <p:origin x="93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8de732db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g38de732db6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8de732db6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38de732db6d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7" name="Google Shape;337;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3"/>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rot="-2700000" flipH="1">
            <a:off x="-564234" y="-380505"/>
            <a:ext cx="2741457" cy="2065483"/>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3"/>
          <p:cNvSpPr/>
          <p:nvPr/>
        </p:nvSpPr>
        <p:spPr>
          <a:xfrm rot="-2700000" flipH="1">
            <a:off x="1337461" y="633219"/>
            <a:ext cx="968052" cy="968052"/>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7" name="Google Shape;87;p13"/>
          <p:cNvSpPr/>
          <p:nvPr/>
        </p:nvSpPr>
        <p:spPr>
          <a:xfrm rot="-2700000" flipH="1">
            <a:off x="15065223" y="982710"/>
            <a:ext cx="1031208" cy="103120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8" name="Google Shape;88;p13"/>
          <p:cNvSpPr/>
          <p:nvPr/>
        </p:nvSpPr>
        <p:spPr>
          <a:xfrm rot="10800000" flipH="1">
            <a:off x="14034964" y="0"/>
            <a:ext cx="4253036" cy="2221255"/>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3"/>
          <p:cNvSpPr/>
          <p:nvPr/>
        </p:nvSpPr>
        <p:spPr>
          <a:xfrm flipH="1">
            <a:off x="11964516" y="9173251"/>
            <a:ext cx="2241769" cy="111374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3"/>
          <p:cNvSpPr/>
          <p:nvPr/>
        </p:nvSpPr>
        <p:spPr>
          <a:xfrm flipH="1">
            <a:off x="11406120" y="9679714"/>
            <a:ext cx="1222354" cy="607286"/>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91" name="Google Shape;91;p13"/>
          <p:cNvGrpSpPr/>
          <p:nvPr/>
        </p:nvGrpSpPr>
        <p:grpSpPr>
          <a:xfrm>
            <a:off x="965200" y="3007923"/>
            <a:ext cx="16358012" cy="4271151"/>
            <a:chOff x="0" y="0"/>
            <a:chExt cx="18288461" cy="4775200"/>
          </a:xfrm>
        </p:grpSpPr>
        <p:sp>
          <p:nvSpPr>
            <p:cNvPr id="92" name="Google Shape;92;p13"/>
            <p:cNvSpPr/>
            <p:nvPr/>
          </p:nvSpPr>
          <p:spPr>
            <a:xfrm>
              <a:off x="0" y="0"/>
              <a:ext cx="18288000" cy="4775200"/>
            </a:xfrm>
            <a:custGeom>
              <a:avLst/>
              <a:gdLst/>
              <a:ahLst/>
              <a:cxnLst/>
              <a:rect l="l" t="t" r="r" b="b"/>
              <a:pathLst>
                <a:path w="18288000" h="4775200" extrusionOk="0">
                  <a:moveTo>
                    <a:pt x="0" y="0"/>
                  </a:moveTo>
                  <a:lnTo>
                    <a:pt x="18288000" y="0"/>
                  </a:lnTo>
                  <a:lnTo>
                    <a:pt x="18288000" y="4775200"/>
                  </a:lnTo>
                  <a:lnTo>
                    <a:pt x="0" y="47752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13"/>
            <p:cNvSpPr txBox="1"/>
            <p:nvPr/>
          </p:nvSpPr>
          <p:spPr>
            <a:xfrm>
              <a:off x="461" y="47746"/>
              <a:ext cx="18288000" cy="4680000"/>
            </a:xfrm>
            <a:prstGeom prst="rect">
              <a:avLst/>
            </a:prstGeom>
            <a:noFill/>
            <a:ln>
              <a:noFill/>
            </a:ln>
          </p:spPr>
          <p:txBody>
            <a:bodyPr spcFirstLastPara="1" wrap="square" lIns="0" tIns="0" rIns="0" bIns="0" anchor="b" anchorCtr="0">
              <a:noAutofit/>
            </a:bodyPr>
            <a:lstStyle/>
            <a:p>
              <a:pPr marL="0" marR="0" lvl="0" indent="0" algn="ctr" rtl="0">
                <a:lnSpc>
                  <a:spcPct val="107998"/>
                </a:lnSpc>
                <a:spcBef>
                  <a:spcPts val="0"/>
                </a:spcBef>
                <a:spcAft>
                  <a:spcPts val="0"/>
                </a:spcAft>
                <a:buNone/>
              </a:pPr>
              <a:r>
                <a:rPr lang="en-US" sz="9639" dirty="0" err="1">
                  <a:solidFill>
                    <a:srgbClr val="000000"/>
                  </a:solidFill>
                  <a:latin typeface="Georgia"/>
                  <a:ea typeface="Georgia"/>
                  <a:cs typeface="Georgia"/>
                  <a:sym typeface="Georgia"/>
                </a:rPr>
                <a:t>Relación</a:t>
              </a:r>
              <a:r>
                <a:rPr lang="en-US" sz="9639" dirty="0">
                  <a:solidFill>
                    <a:srgbClr val="000000"/>
                  </a:solidFill>
                  <a:latin typeface="Georgia"/>
                  <a:ea typeface="Georgia"/>
                  <a:cs typeface="Georgia"/>
                  <a:sym typeface="Georgia"/>
                </a:rPr>
                <a:t> de </a:t>
              </a:r>
              <a:r>
                <a:rPr lang="en-US" sz="9639" dirty="0" err="1">
                  <a:solidFill>
                    <a:srgbClr val="000000"/>
                  </a:solidFill>
                  <a:latin typeface="Georgia"/>
                  <a:ea typeface="Georgia"/>
                  <a:cs typeface="Georgia"/>
                  <a:sym typeface="Georgia"/>
                </a:rPr>
                <a:t>niños</a:t>
              </a:r>
              <a:r>
                <a:rPr lang="en-US" sz="9639" dirty="0">
                  <a:solidFill>
                    <a:srgbClr val="000000"/>
                  </a:solidFill>
                  <a:latin typeface="Georgia"/>
                  <a:ea typeface="Georgia"/>
                  <a:cs typeface="Georgia"/>
                  <a:sym typeface="Georgia"/>
                </a:rPr>
                <a:t>, </a:t>
              </a:r>
              <a:r>
                <a:rPr lang="en-US" sz="9639" dirty="0" err="1">
                  <a:solidFill>
                    <a:srgbClr val="000000"/>
                  </a:solidFill>
                  <a:latin typeface="Georgia"/>
                  <a:ea typeface="Georgia"/>
                  <a:cs typeface="Georgia"/>
                  <a:sym typeface="Georgia"/>
                </a:rPr>
                <a:t>niñas</a:t>
              </a:r>
              <a:r>
                <a:rPr lang="en-US" sz="9639" dirty="0">
                  <a:solidFill>
                    <a:srgbClr val="000000"/>
                  </a:solidFill>
                  <a:latin typeface="Georgia"/>
                  <a:ea typeface="Georgia"/>
                  <a:cs typeface="Georgia"/>
                  <a:sym typeface="Georgia"/>
                </a:rPr>
                <a:t> y </a:t>
              </a:r>
              <a:r>
                <a:rPr lang="en-US" sz="9639" dirty="0" err="1">
                  <a:latin typeface="Georgia"/>
                  <a:ea typeface="Georgia"/>
                  <a:cs typeface="Georgia"/>
                  <a:sym typeface="Georgia"/>
                </a:rPr>
                <a:t>adolescentes</a:t>
              </a:r>
              <a:r>
                <a:rPr lang="en-US" sz="9639" dirty="0">
                  <a:solidFill>
                    <a:srgbClr val="000000"/>
                  </a:solidFill>
                  <a:latin typeface="Georgia"/>
                  <a:ea typeface="Georgia"/>
                  <a:cs typeface="Georgia"/>
                  <a:sym typeface="Georgia"/>
                </a:rPr>
                <a:t> con</a:t>
              </a:r>
              <a:r>
                <a:rPr lang="en-US" sz="9639" dirty="0">
                  <a:latin typeface="Georgia"/>
                  <a:ea typeface="Georgia"/>
                  <a:cs typeface="Georgia"/>
                  <a:sym typeface="Georgia"/>
                </a:rPr>
                <a:t> </a:t>
              </a:r>
              <a:r>
                <a:rPr lang="en-US" sz="9639" dirty="0" err="1">
                  <a:latin typeface="Georgia"/>
                  <a:ea typeface="Georgia"/>
                  <a:cs typeface="Georgia"/>
                  <a:sym typeface="Georgia"/>
                </a:rPr>
                <a:t>situaciones</a:t>
              </a:r>
              <a:r>
                <a:rPr lang="en-US" sz="9639" dirty="0">
                  <a:latin typeface="Georgia"/>
                  <a:ea typeface="Georgia"/>
                  <a:cs typeface="Georgia"/>
                  <a:sym typeface="Georgia"/>
                </a:rPr>
                <a:t> de </a:t>
              </a:r>
              <a:r>
                <a:rPr lang="en-US" sz="9639" dirty="0" err="1">
                  <a:latin typeface="Georgia"/>
                  <a:ea typeface="Georgia"/>
                  <a:cs typeface="Georgia"/>
                  <a:sym typeface="Georgia"/>
                </a:rPr>
                <a:t>trabajo</a:t>
              </a:r>
              <a:r>
                <a:rPr lang="en-US" sz="9639" dirty="0">
                  <a:latin typeface="Georgia"/>
                  <a:ea typeface="Georgia"/>
                  <a:cs typeface="Georgia"/>
                  <a:sym typeface="Georgia"/>
                </a:rPr>
                <a:t> </a:t>
              </a:r>
              <a:r>
                <a:rPr lang="en-US" sz="9639" dirty="0" err="1">
                  <a:latin typeface="Georgia"/>
                  <a:ea typeface="Georgia"/>
                  <a:cs typeface="Georgia"/>
                  <a:sym typeface="Georgia"/>
                </a:rPr>
                <a:t>infantil</a:t>
              </a:r>
              <a:r>
                <a:rPr lang="en-US" sz="9639" dirty="0">
                  <a:latin typeface="Georgia"/>
                  <a:ea typeface="Georgia"/>
                  <a:cs typeface="Georgia"/>
                  <a:sym typeface="Georgia"/>
                </a:rPr>
                <a:t> o </a:t>
              </a:r>
              <a:r>
                <a:rPr lang="en-US" sz="9639" dirty="0" err="1">
                  <a:latin typeface="Georgia"/>
                  <a:ea typeface="Georgia"/>
                  <a:cs typeface="Georgia"/>
                  <a:sym typeface="Georgia"/>
                </a:rPr>
                <a:t>adolescente</a:t>
              </a:r>
              <a:endParaRPr sz="8100" dirty="0">
                <a:solidFill>
                  <a:srgbClr val="000000"/>
                </a:solidFill>
                <a:latin typeface="Georgia"/>
                <a:ea typeface="Georgia"/>
                <a:cs typeface="Georgia"/>
                <a:sym typeface="Georgia"/>
              </a:endParaRPr>
            </a:p>
          </p:txBody>
        </p:sp>
      </p:grpSp>
      <p:sp>
        <p:nvSpPr>
          <p:cNvPr id="94" name="Google Shape;94;p13"/>
          <p:cNvSpPr txBox="1"/>
          <p:nvPr/>
        </p:nvSpPr>
        <p:spPr>
          <a:xfrm>
            <a:off x="12435725" y="7278850"/>
            <a:ext cx="5326200" cy="2319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3200">
                <a:solidFill>
                  <a:schemeClr val="dk1"/>
                </a:solidFill>
                <a:latin typeface="Calibri"/>
                <a:ea typeface="Calibri"/>
                <a:cs typeface="Calibri"/>
                <a:sym typeface="Calibri"/>
              </a:rPr>
              <a:t>Equipo</a:t>
            </a:r>
            <a:endParaRPr sz="3200">
              <a:solidFill>
                <a:schemeClr val="dk1"/>
              </a:solidFill>
              <a:latin typeface="Calibri"/>
              <a:ea typeface="Calibri"/>
              <a:cs typeface="Calibri"/>
              <a:sym typeface="Calibri"/>
            </a:endParaRPr>
          </a:p>
          <a:p>
            <a:pPr marL="0" lvl="0" indent="0" algn="r" rtl="0">
              <a:spcBef>
                <a:spcPts val="0"/>
              </a:spcBef>
              <a:spcAft>
                <a:spcPts val="0"/>
              </a:spcAft>
              <a:buNone/>
            </a:pPr>
            <a:r>
              <a:rPr lang="en-US" sz="3200">
                <a:solidFill>
                  <a:schemeClr val="dk1"/>
                </a:solidFill>
                <a:latin typeface="Calibri"/>
                <a:ea typeface="Calibri"/>
                <a:cs typeface="Calibri"/>
                <a:sym typeface="Calibri"/>
              </a:rPr>
              <a:t>Yeimy Alarcón Almanza</a:t>
            </a:r>
            <a:endParaRPr sz="3200">
              <a:solidFill>
                <a:schemeClr val="dk1"/>
              </a:solidFill>
              <a:latin typeface="Calibri"/>
              <a:ea typeface="Calibri"/>
              <a:cs typeface="Calibri"/>
              <a:sym typeface="Calibri"/>
            </a:endParaRPr>
          </a:p>
          <a:p>
            <a:pPr marL="0" lvl="0" indent="0" algn="r" rtl="0">
              <a:spcBef>
                <a:spcPts val="0"/>
              </a:spcBef>
              <a:spcAft>
                <a:spcPts val="0"/>
              </a:spcAft>
              <a:buNone/>
            </a:pPr>
            <a:r>
              <a:rPr lang="en-US" sz="3200">
                <a:solidFill>
                  <a:schemeClr val="dk1"/>
                </a:solidFill>
                <a:latin typeface="Calibri"/>
                <a:ea typeface="Calibri"/>
                <a:cs typeface="Calibri"/>
                <a:sym typeface="Calibri"/>
              </a:rPr>
              <a:t>Ricardo Vargas Ramírez</a:t>
            </a:r>
            <a:endParaRPr sz="3200">
              <a:solidFill>
                <a:schemeClr val="dk1"/>
              </a:solidFill>
              <a:latin typeface="Calibri"/>
              <a:ea typeface="Calibri"/>
              <a:cs typeface="Calibri"/>
              <a:sym typeface="Calibri"/>
            </a:endParaRPr>
          </a:p>
          <a:p>
            <a:pPr marL="0" lvl="0" indent="0" algn="r" rtl="0">
              <a:spcBef>
                <a:spcPts val="0"/>
              </a:spcBef>
              <a:spcAft>
                <a:spcPts val="0"/>
              </a:spcAft>
              <a:buNone/>
            </a:pPr>
            <a:r>
              <a:rPr lang="en-US" sz="3200">
                <a:solidFill>
                  <a:schemeClr val="dk1"/>
                </a:solidFill>
                <a:latin typeface="Calibri"/>
                <a:ea typeface="Calibri"/>
                <a:cs typeface="Calibri"/>
                <a:sym typeface="Calibri"/>
              </a:rPr>
              <a:t>Maria José Galindo</a:t>
            </a:r>
            <a:endParaRPr sz="3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4"/>
          <p:cNvSpPr/>
          <p:nvPr/>
        </p:nvSpPr>
        <p:spPr>
          <a:xfrm>
            <a:off x="0" y="0"/>
            <a:ext cx="18283428"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14"/>
          <p:cNvSpPr/>
          <p:nvPr/>
        </p:nvSpPr>
        <p:spPr>
          <a:xfrm flipH="1">
            <a:off x="-187841" y="21250"/>
            <a:ext cx="9883316" cy="10287000"/>
          </a:xfrm>
          <a:custGeom>
            <a:avLst/>
            <a:gdLst/>
            <a:ahLst/>
            <a:cxnLst/>
            <a:rect l="l" t="t" r="r" b="b"/>
            <a:pathLst>
              <a:path w="5962785" h="6858000" extrusionOk="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l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01;p14"/>
          <p:cNvSpPr txBox="1"/>
          <p:nvPr/>
        </p:nvSpPr>
        <p:spPr>
          <a:xfrm>
            <a:off x="1257300" y="3703925"/>
            <a:ext cx="6755100" cy="5330400"/>
          </a:xfrm>
          <a:prstGeom prst="rect">
            <a:avLst/>
          </a:prstGeom>
          <a:noFill/>
          <a:ln>
            <a:noFill/>
          </a:ln>
        </p:spPr>
        <p:txBody>
          <a:bodyPr spcFirstLastPara="1" wrap="square" lIns="91425" tIns="45700" rIns="91425" bIns="45700" anchor="t" anchorCtr="0">
            <a:normAutofit/>
          </a:bodyPr>
          <a:lstStyle/>
          <a:p>
            <a:pPr marL="760095" marR="0" lvl="1" indent="-254000" algn="l" rtl="0">
              <a:lnSpc>
                <a:spcPct val="90000"/>
              </a:lnSpc>
              <a:spcBef>
                <a:spcPts val="0"/>
              </a:spcBef>
              <a:spcAft>
                <a:spcPts val="0"/>
              </a:spcAft>
              <a:buClr>
                <a:schemeClr val="dk1"/>
              </a:buClr>
              <a:buSzPts val="3400"/>
              <a:buFont typeface="Georgia"/>
              <a:buChar char="•"/>
            </a:pPr>
            <a:r>
              <a:rPr lang="en-US" sz="3400" i="0" u="none" strike="noStrike" cap="none">
                <a:solidFill>
                  <a:schemeClr val="dk1"/>
                </a:solidFill>
                <a:latin typeface="Georgia"/>
                <a:ea typeface="Georgia"/>
                <a:cs typeface="Georgia"/>
                <a:sym typeface="Georgia"/>
              </a:rPr>
              <a:t>Asumimos que el paso del entendimiento del negocio tuvo lugar en la exposición pasada. </a:t>
            </a:r>
            <a:endParaRPr sz="1800">
              <a:latin typeface="Georgia"/>
              <a:ea typeface="Georgia"/>
              <a:cs typeface="Georgia"/>
              <a:sym typeface="Georgia"/>
            </a:endParaRPr>
          </a:p>
          <a:p>
            <a:pPr marL="760095" marR="0" lvl="1" indent="-254000" algn="l" rtl="0">
              <a:lnSpc>
                <a:spcPct val="90000"/>
              </a:lnSpc>
              <a:spcBef>
                <a:spcPts val="600"/>
              </a:spcBef>
              <a:spcAft>
                <a:spcPts val="0"/>
              </a:spcAft>
              <a:buClr>
                <a:schemeClr val="dk1"/>
              </a:buClr>
              <a:buSzPts val="3400"/>
              <a:buFont typeface="Georgia"/>
              <a:buChar char="•"/>
            </a:pPr>
            <a:r>
              <a:rPr lang="en-US" sz="3400" i="0" u="none" strike="noStrike" cap="none">
                <a:solidFill>
                  <a:schemeClr val="dk1"/>
                </a:solidFill>
                <a:latin typeface="Georgia"/>
                <a:ea typeface="Georgia"/>
                <a:cs typeface="Georgia"/>
                <a:sym typeface="Georgia"/>
              </a:rPr>
              <a:t>En esta exposición nos concentramos únicamente en aspectos relacionados con el entendimiento de los datos y la preparación de los mismos. </a:t>
            </a:r>
            <a:endParaRPr sz="1800">
              <a:latin typeface="Georgia"/>
              <a:ea typeface="Georgia"/>
              <a:cs typeface="Georgia"/>
              <a:sym typeface="Georgia"/>
            </a:endParaRPr>
          </a:p>
        </p:txBody>
      </p:sp>
      <p:grpSp>
        <p:nvGrpSpPr>
          <p:cNvPr id="102" name="Google Shape;102;p14"/>
          <p:cNvGrpSpPr/>
          <p:nvPr/>
        </p:nvGrpSpPr>
        <p:grpSpPr>
          <a:xfrm>
            <a:off x="10201479" y="4715912"/>
            <a:ext cx="7728151" cy="897708"/>
            <a:chOff x="0" y="0"/>
            <a:chExt cx="22823336" cy="2651175"/>
          </a:xfrm>
        </p:grpSpPr>
        <p:sp>
          <p:nvSpPr>
            <p:cNvPr id="103" name="Google Shape;103;p14"/>
            <p:cNvSpPr/>
            <p:nvPr/>
          </p:nvSpPr>
          <p:spPr>
            <a:xfrm>
              <a:off x="0" y="0"/>
              <a:ext cx="21031200" cy="2651126"/>
            </a:xfrm>
            <a:custGeom>
              <a:avLst/>
              <a:gdLst/>
              <a:ahLst/>
              <a:cxnLst/>
              <a:rect l="l" t="t" r="r" b="b"/>
              <a:pathLst>
                <a:path w="21031200" h="2651126" extrusionOk="0">
                  <a:moveTo>
                    <a:pt x="0" y="0"/>
                  </a:moveTo>
                  <a:lnTo>
                    <a:pt x="21031200" y="0"/>
                  </a:lnTo>
                  <a:lnTo>
                    <a:pt x="21031200" y="2651126"/>
                  </a:lnTo>
                  <a:lnTo>
                    <a:pt x="0" y="265112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4800">
                <a:solidFill>
                  <a:schemeClr val="dk1"/>
                </a:solidFill>
                <a:latin typeface="Georgia"/>
                <a:ea typeface="Georgia"/>
                <a:cs typeface="Georgia"/>
                <a:sym typeface="Georgia"/>
              </a:endParaRPr>
            </a:p>
          </p:txBody>
        </p:sp>
        <p:sp>
          <p:nvSpPr>
            <p:cNvPr id="104" name="Google Shape;104;p14"/>
            <p:cNvSpPr txBox="1"/>
            <p:nvPr/>
          </p:nvSpPr>
          <p:spPr>
            <a:xfrm>
              <a:off x="1792136" y="66675"/>
              <a:ext cx="21031200" cy="2584500"/>
            </a:xfrm>
            <a:prstGeom prst="rect">
              <a:avLst/>
            </a:prstGeom>
            <a:noFill/>
            <a:ln>
              <a:noFill/>
            </a:ln>
          </p:spPr>
          <p:txBody>
            <a:bodyPr spcFirstLastPara="1" wrap="square" lIns="0" tIns="0" rIns="0" bIns="0" anchor="ctr" anchorCtr="0">
              <a:noAutofit/>
            </a:bodyPr>
            <a:lstStyle/>
            <a:p>
              <a:pPr marL="0" marR="0" lvl="0" indent="0" algn="l" rtl="0">
                <a:lnSpc>
                  <a:spcPct val="108013"/>
                </a:lnSpc>
                <a:spcBef>
                  <a:spcPts val="0"/>
                </a:spcBef>
                <a:spcAft>
                  <a:spcPts val="0"/>
                </a:spcAft>
                <a:buNone/>
              </a:pPr>
              <a:r>
                <a:rPr lang="en-US" sz="5970">
                  <a:solidFill>
                    <a:srgbClr val="000000"/>
                  </a:solidFill>
                  <a:latin typeface="Georgia"/>
                  <a:ea typeface="Georgia"/>
                  <a:cs typeface="Georgia"/>
                  <a:sym typeface="Georgia"/>
                </a:rPr>
                <a:t>Importante</a:t>
              </a:r>
              <a:endParaRPr sz="9600">
                <a:solidFill>
                  <a:srgbClr val="000000"/>
                </a:solidFill>
                <a:latin typeface="Georgia"/>
                <a:ea typeface="Georgia"/>
                <a:cs typeface="Georgia"/>
                <a:sym typeface="Georgia"/>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109" name="Google Shape;109;p15"/>
          <p:cNvGrpSpPr/>
          <p:nvPr/>
        </p:nvGrpSpPr>
        <p:grpSpPr>
          <a:xfrm>
            <a:off x="1257300" y="547688"/>
            <a:ext cx="15773400" cy="1988381"/>
            <a:chOff x="0" y="0"/>
            <a:chExt cx="21031200" cy="2651175"/>
          </a:xfrm>
        </p:grpSpPr>
        <p:sp>
          <p:nvSpPr>
            <p:cNvPr id="110" name="Google Shape;110;p15"/>
            <p:cNvSpPr/>
            <p:nvPr/>
          </p:nvSpPr>
          <p:spPr>
            <a:xfrm>
              <a:off x="0" y="0"/>
              <a:ext cx="21031200" cy="2651126"/>
            </a:xfrm>
            <a:custGeom>
              <a:avLst/>
              <a:gdLst/>
              <a:ahLst/>
              <a:cxnLst/>
              <a:rect l="l" t="t" r="r" b="b"/>
              <a:pathLst>
                <a:path w="21031200" h="2651126" extrusionOk="0">
                  <a:moveTo>
                    <a:pt x="0" y="0"/>
                  </a:moveTo>
                  <a:lnTo>
                    <a:pt x="21031200" y="0"/>
                  </a:lnTo>
                  <a:lnTo>
                    <a:pt x="21031200" y="2651126"/>
                  </a:lnTo>
                  <a:lnTo>
                    <a:pt x="0" y="265112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eorgia"/>
                <a:ea typeface="Georgia"/>
                <a:cs typeface="Georgia"/>
                <a:sym typeface="Georgia"/>
              </a:endParaRPr>
            </a:p>
          </p:txBody>
        </p:sp>
        <p:sp>
          <p:nvSpPr>
            <p:cNvPr id="111" name="Google Shape;111;p15"/>
            <p:cNvSpPr txBox="1"/>
            <p:nvPr/>
          </p:nvSpPr>
          <p:spPr>
            <a:xfrm>
              <a:off x="0" y="66675"/>
              <a:ext cx="21031200" cy="2584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6600">
                  <a:solidFill>
                    <a:srgbClr val="000000"/>
                  </a:solidFill>
                  <a:latin typeface="Georgia"/>
                  <a:ea typeface="Georgia"/>
                  <a:cs typeface="Georgia"/>
                  <a:sym typeface="Georgia"/>
                </a:rPr>
                <a:t>Objetivo</a:t>
              </a:r>
              <a:r>
                <a:rPr lang="en-US" sz="6600">
                  <a:latin typeface="Georgia"/>
                  <a:ea typeface="Georgia"/>
                  <a:cs typeface="Georgia"/>
                  <a:sym typeface="Georgia"/>
                </a:rPr>
                <a:t> General</a:t>
              </a:r>
              <a:endParaRPr>
                <a:latin typeface="Georgia"/>
                <a:ea typeface="Georgia"/>
                <a:cs typeface="Georgia"/>
                <a:sym typeface="Georgia"/>
              </a:endParaRPr>
            </a:p>
          </p:txBody>
        </p:sp>
      </p:grpSp>
      <p:sp>
        <p:nvSpPr>
          <p:cNvPr id="112" name="Google Shape;112;p15"/>
          <p:cNvSpPr txBox="1"/>
          <p:nvPr/>
        </p:nvSpPr>
        <p:spPr>
          <a:xfrm>
            <a:off x="1257300" y="3703925"/>
            <a:ext cx="15773400" cy="5330400"/>
          </a:xfrm>
          <a:prstGeom prst="rect">
            <a:avLst/>
          </a:prstGeom>
          <a:noFill/>
          <a:ln>
            <a:noFill/>
          </a:ln>
        </p:spPr>
        <p:txBody>
          <a:bodyPr spcFirstLastPara="1" wrap="square" lIns="91425" tIns="45700" rIns="91425" bIns="45700" anchor="t" anchorCtr="0">
            <a:normAutofit/>
          </a:bodyPr>
          <a:lstStyle/>
          <a:p>
            <a:pPr marL="760095" marR="0" lvl="1" indent="-241300" algn="l" rtl="0">
              <a:lnSpc>
                <a:spcPct val="90000"/>
              </a:lnSpc>
              <a:spcBef>
                <a:spcPts val="0"/>
              </a:spcBef>
              <a:spcAft>
                <a:spcPts val="0"/>
              </a:spcAft>
              <a:buClr>
                <a:schemeClr val="dk1"/>
              </a:buClr>
              <a:buSzPts val="3200"/>
              <a:buFont typeface="Georgia"/>
              <a:buChar char="•"/>
            </a:pPr>
            <a:r>
              <a:rPr lang="en-US" sz="3200">
                <a:solidFill>
                  <a:schemeClr val="dk1"/>
                </a:solidFill>
                <a:latin typeface="Georgia"/>
                <a:ea typeface="Georgia"/>
                <a:cs typeface="Georgia"/>
                <a:sym typeface="Georgia"/>
              </a:rPr>
              <a:t>Realizar un análisis exploratorio de la base </a:t>
            </a:r>
            <a:r>
              <a:rPr lang="en-US" sz="3200" i="1">
                <a:solidFill>
                  <a:schemeClr val="dk1"/>
                </a:solidFill>
                <a:latin typeface="Georgia"/>
                <a:ea typeface="Georgia"/>
                <a:cs typeface="Georgia"/>
                <a:sym typeface="Georgia"/>
              </a:rPr>
              <a:t>base_datos_completa_NNA_TI_anon </a:t>
            </a:r>
            <a:r>
              <a:rPr lang="en-US" sz="3200">
                <a:solidFill>
                  <a:schemeClr val="dk1"/>
                </a:solidFill>
                <a:latin typeface="Georgia"/>
                <a:ea typeface="Georgia"/>
                <a:cs typeface="Georgia"/>
                <a:sym typeface="Georgia"/>
              </a:rPr>
              <a:t>para limpiar, organizar y describir la información de niños, niñas y adolescentes con posibles situaciones de trabajo infantil o adolescente, resumiendo patrones básicos por demografía, ubicación, afiliación al SGSSS y lugar principal de trabajo, mediante tablas y visualizaciones descriptivas, aplicando las fases de entendimiento y preparación de datos de la metodología CRISP-DM</a:t>
            </a:r>
            <a:endParaRPr sz="3200">
              <a:solidFill>
                <a:schemeClr val="dk1"/>
              </a:solidFill>
              <a:latin typeface="Georgia"/>
              <a:ea typeface="Georgia"/>
              <a:cs typeface="Georgia"/>
              <a:sym typeface="Georgia"/>
            </a:endParaRPr>
          </a:p>
          <a:p>
            <a:pPr marL="0" marR="0" lvl="0" indent="0" algn="l" rtl="0">
              <a:lnSpc>
                <a:spcPct val="90000"/>
              </a:lnSpc>
              <a:spcBef>
                <a:spcPts val="600"/>
              </a:spcBef>
              <a:spcAft>
                <a:spcPts val="0"/>
              </a:spcAft>
              <a:buNone/>
            </a:pPr>
            <a:endParaRPr sz="3200">
              <a:solidFill>
                <a:schemeClr val="dk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pSp>
        <p:nvGrpSpPr>
          <p:cNvPr id="117" name="Google Shape;117;p16"/>
          <p:cNvGrpSpPr/>
          <p:nvPr/>
        </p:nvGrpSpPr>
        <p:grpSpPr>
          <a:xfrm>
            <a:off x="1257300" y="279837"/>
            <a:ext cx="15773400" cy="2256196"/>
            <a:chOff x="0" y="-357134"/>
            <a:chExt cx="21031200" cy="3008260"/>
          </a:xfrm>
        </p:grpSpPr>
        <p:sp>
          <p:nvSpPr>
            <p:cNvPr id="118" name="Google Shape;118;p16"/>
            <p:cNvSpPr/>
            <p:nvPr/>
          </p:nvSpPr>
          <p:spPr>
            <a:xfrm>
              <a:off x="0" y="0"/>
              <a:ext cx="21031200" cy="2651126"/>
            </a:xfrm>
            <a:custGeom>
              <a:avLst/>
              <a:gdLst/>
              <a:ahLst/>
              <a:cxnLst/>
              <a:rect l="l" t="t" r="r" b="b"/>
              <a:pathLst>
                <a:path w="21031200" h="2651126" extrusionOk="0">
                  <a:moveTo>
                    <a:pt x="0" y="0"/>
                  </a:moveTo>
                  <a:lnTo>
                    <a:pt x="21031200" y="0"/>
                  </a:lnTo>
                  <a:lnTo>
                    <a:pt x="21031200" y="2651126"/>
                  </a:lnTo>
                  <a:lnTo>
                    <a:pt x="0" y="265112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eorgia"/>
                <a:ea typeface="Georgia"/>
                <a:cs typeface="Georgia"/>
                <a:sym typeface="Georgia"/>
              </a:endParaRPr>
            </a:p>
          </p:txBody>
        </p:sp>
        <p:sp>
          <p:nvSpPr>
            <p:cNvPr id="119" name="Google Shape;119;p16"/>
            <p:cNvSpPr txBox="1"/>
            <p:nvPr/>
          </p:nvSpPr>
          <p:spPr>
            <a:xfrm>
              <a:off x="0" y="-357134"/>
              <a:ext cx="21031200" cy="2584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6600">
                  <a:solidFill>
                    <a:srgbClr val="000000"/>
                  </a:solidFill>
                  <a:latin typeface="Georgia"/>
                  <a:ea typeface="Georgia"/>
                  <a:cs typeface="Georgia"/>
                  <a:sym typeface="Georgia"/>
                </a:rPr>
                <a:t>Objetivos Espec</a:t>
              </a:r>
              <a:r>
                <a:rPr lang="en-US" sz="6600">
                  <a:latin typeface="Georgia"/>
                  <a:ea typeface="Georgia"/>
                  <a:cs typeface="Georgia"/>
                  <a:sym typeface="Georgia"/>
                </a:rPr>
                <a:t>íficos</a:t>
              </a:r>
              <a:endParaRPr>
                <a:latin typeface="Georgia"/>
                <a:ea typeface="Georgia"/>
                <a:cs typeface="Georgia"/>
                <a:sym typeface="Georgia"/>
              </a:endParaRPr>
            </a:p>
          </p:txBody>
        </p:sp>
      </p:grpSp>
      <p:grpSp>
        <p:nvGrpSpPr>
          <p:cNvPr id="120" name="Google Shape;120;p16"/>
          <p:cNvGrpSpPr/>
          <p:nvPr/>
        </p:nvGrpSpPr>
        <p:grpSpPr>
          <a:xfrm>
            <a:off x="1348750" y="2509274"/>
            <a:ext cx="15590520" cy="7216224"/>
            <a:chOff x="0" y="-322507"/>
            <a:chExt cx="15590520" cy="6706528"/>
          </a:xfrm>
        </p:grpSpPr>
        <p:sp>
          <p:nvSpPr>
            <p:cNvPr id="121" name="Google Shape;121;p16"/>
            <p:cNvSpPr/>
            <p:nvPr/>
          </p:nvSpPr>
          <p:spPr>
            <a:xfrm>
              <a:off x="0" y="3921"/>
              <a:ext cx="15590520" cy="202878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6"/>
            <p:cNvSpPr txBox="1"/>
            <p:nvPr/>
          </p:nvSpPr>
          <p:spPr>
            <a:xfrm>
              <a:off x="99035" y="-322507"/>
              <a:ext cx="15392400" cy="2256300"/>
            </a:xfrm>
            <a:prstGeom prst="rect">
              <a:avLst/>
            </a:prstGeom>
            <a:noFill/>
            <a:ln>
              <a:noFill/>
            </a:ln>
          </p:spPr>
          <p:txBody>
            <a:bodyPr spcFirstLastPara="1" wrap="square" lIns="194300" tIns="194300" rIns="194300" bIns="194300" anchor="ctr" anchorCtr="0">
              <a:noAutofit/>
            </a:bodyPr>
            <a:lstStyle/>
            <a:p>
              <a:pPr marL="457200" lvl="0" indent="0" algn="l" rtl="0">
                <a:lnSpc>
                  <a:spcPct val="115000"/>
                </a:lnSpc>
                <a:spcBef>
                  <a:spcPts val="0"/>
                </a:spcBef>
                <a:spcAft>
                  <a:spcPts val="1200"/>
                </a:spcAft>
                <a:buNone/>
              </a:pPr>
              <a:r>
                <a:rPr lang="en-US" sz="3000">
                  <a:solidFill>
                    <a:srgbClr val="FFFFFF"/>
                  </a:solidFill>
                  <a:latin typeface="Georgia"/>
                  <a:ea typeface="Georgia"/>
                  <a:cs typeface="Georgia"/>
                  <a:sym typeface="Georgia"/>
                </a:rPr>
                <a:t>Comprender la estructura y contenido del conjunto de datos </a:t>
              </a:r>
              <a:r>
                <a:rPr lang="en-US" sz="3000" i="1">
                  <a:solidFill>
                    <a:srgbClr val="FFFFFF"/>
                  </a:solidFill>
                  <a:latin typeface="Georgia"/>
                  <a:ea typeface="Georgia"/>
                  <a:cs typeface="Georgia"/>
                  <a:sym typeface="Georgia"/>
                </a:rPr>
                <a:t>base_datos_completa_NNA_TI_anon</a:t>
              </a:r>
              <a:r>
                <a:rPr lang="en-US" sz="3000">
                  <a:solidFill>
                    <a:srgbClr val="FFFFFF"/>
                  </a:solidFill>
                  <a:latin typeface="Georgia"/>
                  <a:ea typeface="Georgia"/>
                  <a:cs typeface="Georgia"/>
                  <a:sym typeface="Georgia"/>
                </a:rPr>
                <a:t>, identificando las variables relevantes, sus tipos y su relación con el fenómeno del trabajo infantil/adolescente.</a:t>
              </a:r>
              <a:endParaRPr sz="3000">
                <a:solidFill>
                  <a:srgbClr val="FFFFFF"/>
                </a:solidFill>
                <a:latin typeface="Georgia"/>
                <a:ea typeface="Georgia"/>
                <a:cs typeface="Georgia"/>
                <a:sym typeface="Georgia"/>
              </a:endParaRPr>
            </a:p>
          </p:txBody>
        </p:sp>
        <p:sp>
          <p:nvSpPr>
            <p:cNvPr id="123" name="Google Shape;123;p16"/>
            <p:cNvSpPr/>
            <p:nvPr/>
          </p:nvSpPr>
          <p:spPr>
            <a:xfrm>
              <a:off x="0" y="2179581"/>
              <a:ext cx="15590520" cy="202878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txBox="1"/>
            <p:nvPr/>
          </p:nvSpPr>
          <p:spPr>
            <a:xfrm>
              <a:off x="99037" y="2278618"/>
              <a:ext cx="15392446" cy="1830706"/>
            </a:xfrm>
            <a:prstGeom prst="rect">
              <a:avLst/>
            </a:prstGeom>
            <a:noFill/>
            <a:ln>
              <a:noFill/>
            </a:ln>
          </p:spPr>
          <p:txBody>
            <a:bodyPr spcFirstLastPara="1" wrap="square" lIns="194300" tIns="194300" rIns="194300" bIns="194300" anchor="ctr" anchorCtr="0">
              <a:noAutofit/>
            </a:bodyPr>
            <a:lstStyle/>
            <a:p>
              <a:pPr marL="457200" lvl="0" indent="0" algn="l" rtl="0">
                <a:lnSpc>
                  <a:spcPct val="115000"/>
                </a:lnSpc>
                <a:spcBef>
                  <a:spcPts val="300"/>
                </a:spcBef>
                <a:spcAft>
                  <a:spcPts val="1200"/>
                </a:spcAft>
                <a:buNone/>
              </a:pPr>
              <a:r>
                <a:rPr lang="en-US" sz="3000">
                  <a:solidFill>
                    <a:srgbClr val="FFFFFF"/>
                  </a:solidFill>
                  <a:latin typeface="Georgia"/>
                  <a:ea typeface="Georgia"/>
                  <a:cs typeface="Georgia"/>
                  <a:sym typeface="Georgia"/>
                </a:rPr>
                <a:t>Evaluar la calidad de la información, detectando valores faltantes, inconsistencias y categorías no especificadas que puedan afectar la interpretación estadística de los resultados.</a:t>
              </a:r>
              <a:endParaRPr sz="5100">
                <a:solidFill>
                  <a:schemeClr val="lt1"/>
                </a:solidFill>
                <a:latin typeface="Calibri"/>
                <a:ea typeface="Calibri"/>
                <a:cs typeface="Calibri"/>
                <a:sym typeface="Calibri"/>
              </a:endParaRPr>
            </a:p>
          </p:txBody>
        </p:sp>
        <p:sp>
          <p:nvSpPr>
            <p:cNvPr id="125" name="Google Shape;125;p16"/>
            <p:cNvSpPr/>
            <p:nvPr/>
          </p:nvSpPr>
          <p:spPr>
            <a:xfrm>
              <a:off x="0" y="4355241"/>
              <a:ext cx="15590520" cy="202878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txBox="1"/>
            <p:nvPr/>
          </p:nvSpPr>
          <p:spPr>
            <a:xfrm>
              <a:off x="99037" y="4454278"/>
              <a:ext cx="15392446" cy="1830706"/>
            </a:xfrm>
            <a:prstGeom prst="rect">
              <a:avLst/>
            </a:prstGeom>
            <a:noFill/>
            <a:ln>
              <a:noFill/>
            </a:ln>
          </p:spPr>
          <p:txBody>
            <a:bodyPr spcFirstLastPara="1" wrap="square" lIns="194300" tIns="194300" rIns="194300" bIns="194300" anchor="ctr" anchorCtr="0">
              <a:noAutofit/>
            </a:bodyPr>
            <a:lstStyle/>
            <a:p>
              <a:pPr marL="457200" lvl="0" indent="0" algn="l" rtl="0">
                <a:lnSpc>
                  <a:spcPct val="115000"/>
                </a:lnSpc>
                <a:spcBef>
                  <a:spcPts val="300"/>
                </a:spcBef>
                <a:spcAft>
                  <a:spcPts val="1200"/>
                </a:spcAft>
                <a:buNone/>
              </a:pPr>
              <a:r>
                <a:rPr lang="en-US" sz="3000">
                  <a:solidFill>
                    <a:srgbClr val="FFFFFF"/>
                  </a:solidFill>
                  <a:latin typeface="Georgia"/>
                  <a:ea typeface="Georgia"/>
                  <a:cs typeface="Georgia"/>
                  <a:sym typeface="Georgia"/>
                </a:rPr>
                <a:t>Aplicar procesos de limpieza, estandarización y creación de variables derivadas, con el fin de mejorar la organización, trazabilidad y coherencia del conjunto de datos para el análisis posterior</a:t>
              </a:r>
              <a:r>
                <a:rPr lang="en-US" sz="3400">
                  <a:solidFill>
                    <a:schemeClr val="lt1"/>
                  </a:solidFill>
                  <a:latin typeface="Calibri"/>
                  <a:ea typeface="Calibri"/>
                  <a:cs typeface="Calibri"/>
                  <a:sym typeface="Calibri"/>
                </a:rPr>
                <a:t>.</a:t>
              </a:r>
              <a:endParaRPr sz="5100">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pSp>
        <p:nvGrpSpPr>
          <p:cNvPr id="131" name="Google Shape;131;p17"/>
          <p:cNvGrpSpPr/>
          <p:nvPr/>
        </p:nvGrpSpPr>
        <p:grpSpPr>
          <a:xfrm>
            <a:off x="1453125" y="3432388"/>
            <a:ext cx="15773400" cy="2256195"/>
            <a:chOff x="0" y="-357134"/>
            <a:chExt cx="21031200" cy="3008260"/>
          </a:xfrm>
        </p:grpSpPr>
        <p:sp>
          <p:nvSpPr>
            <p:cNvPr id="132" name="Google Shape;132;p17"/>
            <p:cNvSpPr/>
            <p:nvPr/>
          </p:nvSpPr>
          <p:spPr>
            <a:xfrm>
              <a:off x="0" y="0"/>
              <a:ext cx="21031200" cy="2651126"/>
            </a:xfrm>
            <a:custGeom>
              <a:avLst/>
              <a:gdLst/>
              <a:ahLst/>
              <a:cxnLst/>
              <a:rect l="l" t="t" r="r" b="b"/>
              <a:pathLst>
                <a:path w="21031200" h="2651126" extrusionOk="0">
                  <a:moveTo>
                    <a:pt x="0" y="0"/>
                  </a:moveTo>
                  <a:lnTo>
                    <a:pt x="21031200" y="0"/>
                  </a:lnTo>
                  <a:lnTo>
                    <a:pt x="21031200" y="2651126"/>
                  </a:lnTo>
                  <a:lnTo>
                    <a:pt x="0" y="265112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Georgia"/>
                <a:ea typeface="Georgia"/>
                <a:cs typeface="Georgia"/>
                <a:sym typeface="Georgia"/>
              </a:endParaRPr>
            </a:p>
          </p:txBody>
        </p:sp>
        <p:sp>
          <p:nvSpPr>
            <p:cNvPr id="133" name="Google Shape;133;p17"/>
            <p:cNvSpPr txBox="1"/>
            <p:nvPr/>
          </p:nvSpPr>
          <p:spPr>
            <a:xfrm>
              <a:off x="0" y="-357134"/>
              <a:ext cx="21031200" cy="2584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6600">
                  <a:solidFill>
                    <a:srgbClr val="000000"/>
                  </a:solidFill>
                  <a:latin typeface="Georgia"/>
                  <a:ea typeface="Georgia"/>
                  <a:cs typeface="Georgia"/>
                  <a:sym typeface="Georgia"/>
                </a:rPr>
                <a:t>Objetivos Espec</a:t>
              </a:r>
              <a:r>
                <a:rPr lang="en-US" sz="6600">
                  <a:latin typeface="Georgia"/>
                  <a:ea typeface="Georgia"/>
                  <a:cs typeface="Georgia"/>
                  <a:sym typeface="Georgia"/>
                </a:rPr>
                <a:t>ificos</a:t>
              </a:r>
              <a:endParaRPr>
                <a:latin typeface="Georgia"/>
                <a:ea typeface="Georgia"/>
                <a:cs typeface="Georgia"/>
                <a:sym typeface="Georgia"/>
              </a:endParaRPr>
            </a:p>
          </p:txBody>
        </p:sp>
      </p:grpSp>
      <p:sp>
        <p:nvSpPr>
          <p:cNvPr id="134" name="Google Shape;134;p17"/>
          <p:cNvSpPr/>
          <p:nvPr/>
        </p:nvSpPr>
        <p:spPr>
          <a:xfrm>
            <a:off x="1244375" y="3429000"/>
            <a:ext cx="15773400" cy="22563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300"/>
              </a:spcBef>
              <a:spcAft>
                <a:spcPts val="0"/>
              </a:spcAft>
              <a:buClr>
                <a:schemeClr val="dk1"/>
              </a:buClr>
              <a:buSzPts val="1100"/>
              <a:buFont typeface="Arial"/>
              <a:buNone/>
            </a:pPr>
            <a:r>
              <a:rPr lang="en-US" sz="3000">
                <a:solidFill>
                  <a:srgbClr val="FFFFFF"/>
                </a:solidFill>
                <a:latin typeface="Georgia"/>
                <a:ea typeface="Georgia"/>
                <a:cs typeface="Georgia"/>
                <a:sym typeface="Georgia"/>
              </a:rPr>
              <a:t>Organizar las variables en grupos temáticos lógicos (demografía, ubicación, trabajo, salud y resultado), facilitando la interpretación y visualización de la información</a:t>
            </a:r>
            <a:r>
              <a:rPr lang="en-US" sz="3400">
                <a:solidFill>
                  <a:schemeClr val="lt1"/>
                </a:solidFill>
                <a:latin typeface="Calibri"/>
                <a:ea typeface="Calibri"/>
                <a:cs typeface="Calibri"/>
                <a:sym typeface="Calibri"/>
              </a:rPr>
              <a:t>.</a:t>
            </a:r>
            <a:endParaRPr sz="3400">
              <a:solidFill>
                <a:schemeClr val="lt1"/>
              </a:solidFill>
              <a:latin typeface="Calibri"/>
              <a:ea typeface="Calibri"/>
              <a:cs typeface="Calibri"/>
              <a:sym typeface="Calibri"/>
            </a:endParaRPr>
          </a:p>
          <a:p>
            <a:pPr marL="0" lvl="0" indent="0" algn="ctr" rtl="0">
              <a:spcBef>
                <a:spcPts val="1200"/>
              </a:spcBef>
              <a:spcAft>
                <a:spcPts val="0"/>
              </a:spcAft>
              <a:buNone/>
            </a:pPr>
            <a:endParaRPr>
              <a:latin typeface="Calibri"/>
              <a:ea typeface="Calibri"/>
              <a:cs typeface="Calibri"/>
              <a:sym typeface="Calibri"/>
            </a:endParaRPr>
          </a:p>
        </p:txBody>
      </p:sp>
      <p:sp>
        <p:nvSpPr>
          <p:cNvPr id="135" name="Google Shape;135;p17"/>
          <p:cNvSpPr/>
          <p:nvPr/>
        </p:nvSpPr>
        <p:spPr>
          <a:xfrm>
            <a:off x="1290958" y="6084575"/>
            <a:ext cx="15773400" cy="278640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300"/>
              </a:spcBef>
              <a:spcAft>
                <a:spcPts val="0"/>
              </a:spcAft>
              <a:buNone/>
            </a:pPr>
            <a:r>
              <a:rPr lang="en-US" sz="3000">
                <a:solidFill>
                  <a:srgbClr val="FFFFFF"/>
                </a:solidFill>
                <a:latin typeface="Georgia"/>
                <a:ea typeface="Georgia"/>
                <a:cs typeface="Georgia"/>
                <a:sym typeface="Georgia"/>
              </a:rPr>
              <a:t>Desarrollar un análisis exploratorio descriptivo, utilizando medidas estadísticas, tablas y visualizaciones que permitan identificar patrones generales y relaciones entre las variables demográficas, socioeconómicas y laborales con el estado del resultado de la intervención.</a:t>
            </a:r>
            <a:endParaRPr sz="3400">
              <a:solidFill>
                <a:schemeClr val="lt1"/>
              </a:solidFill>
              <a:latin typeface="Calibri"/>
              <a:ea typeface="Calibri"/>
              <a:cs typeface="Calibri"/>
              <a:sym typeface="Calibri"/>
            </a:endParaRPr>
          </a:p>
          <a:p>
            <a:pPr marL="0" lvl="0" indent="0" algn="ctr" rtl="0">
              <a:spcBef>
                <a:spcPts val="1200"/>
              </a:spcBef>
              <a:spcAft>
                <a:spcPts val="0"/>
              </a:spcAft>
              <a:buNone/>
            </a:pPr>
            <a:endParaRPr>
              <a:latin typeface="Calibri"/>
              <a:ea typeface="Calibri"/>
              <a:cs typeface="Calibri"/>
              <a:sym typeface="Calibri"/>
            </a:endParaRPr>
          </a:p>
        </p:txBody>
      </p:sp>
      <p:sp>
        <p:nvSpPr>
          <p:cNvPr id="136" name="Google Shape;136;p17"/>
          <p:cNvSpPr txBox="1"/>
          <p:nvPr/>
        </p:nvSpPr>
        <p:spPr>
          <a:xfrm>
            <a:off x="1257300" y="828863"/>
            <a:ext cx="15773400" cy="19383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6600">
                <a:solidFill>
                  <a:srgbClr val="000000"/>
                </a:solidFill>
                <a:latin typeface="Georgia"/>
                <a:ea typeface="Georgia"/>
                <a:cs typeface="Georgia"/>
                <a:sym typeface="Georgia"/>
              </a:rPr>
              <a:t>Objetivos Espec</a:t>
            </a:r>
            <a:r>
              <a:rPr lang="en-US" sz="6600">
                <a:latin typeface="Georgia"/>
                <a:ea typeface="Georgia"/>
                <a:cs typeface="Georgia"/>
                <a:sym typeface="Georgia"/>
              </a:rPr>
              <a:t>ificos</a:t>
            </a:r>
            <a:endParaRPr>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pSp>
        <p:nvGrpSpPr>
          <p:cNvPr id="141" name="Google Shape;141;p18"/>
          <p:cNvGrpSpPr/>
          <p:nvPr/>
        </p:nvGrpSpPr>
        <p:grpSpPr>
          <a:xfrm>
            <a:off x="1257300" y="547688"/>
            <a:ext cx="15773400" cy="1988345"/>
            <a:chOff x="0" y="0"/>
            <a:chExt cx="21031200" cy="2651126"/>
          </a:xfrm>
        </p:grpSpPr>
        <p:sp>
          <p:nvSpPr>
            <p:cNvPr id="142" name="Google Shape;142;p18"/>
            <p:cNvSpPr/>
            <p:nvPr/>
          </p:nvSpPr>
          <p:spPr>
            <a:xfrm>
              <a:off x="0" y="0"/>
              <a:ext cx="21031200" cy="2651126"/>
            </a:xfrm>
            <a:custGeom>
              <a:avLst/>
              <a:gdLst/>
              <a:ahLst/>
              <a:cxnLst/>
              <a:rect l="l" t="t" r="r" b="b"/>
              <a:pathLst>
                <a:path w="21031200" h="2651126" extrusionOk="0">
                  <a:moveTo>
                    <a:pt x="0" y="0"/>
                  </a:moveTo>
                  <a:lnTo>
                    <a:pt x="21031200" y="0"/>
                  </a:lnTo>
                  <a:lnTo>
                    <a:pt x="21031200" y="2651126"/>
                  </a:lnTo>
                  <a:lnTo>
                    <a:pt x="0" y="265112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18"/>
            <p:cNvSpPr txBox="1"/>
            <p:nvPr/>
          </p:nvSpPr>
          <p:spPr>
            <a:xfrm>
              <a:off x="0" y="66675"/>
              <a:ext cx="21031200" cy="2584451"/>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6600">
                  <a:solidFill>
                    <a:srgbClr val="000000"/>
                  </a:solidFill>
                  <a:latin typeface="Georgia"/>
                  <a:ea typeface="Georgia"/>
                  <a:cs typeface="Georgia"/>
                  <a:sym typeface="Georgia"/>
                </a:rPr>
                <a:t>Momentos del análisis</a:t>
              </a:r>
              <a:endParaRPr>
                <a:latin typeface="Georgia"/>
                <a:ea typeface="Georgia"/>
                <a:cs typeface="Georgia"/>
                <a:sym typeface="Georgia"/>
              </a:endParaRPr>
            </a:p>
          </p:txBody>
        </p:sp>
      </p:grpSp>
      <p:grpSp>
        <p:nvGrpSpPr>
          <p:cNvPr id="144" name="Google Shape;144;p18"/>
          <p:cNvGrpSpPr/>
          <p:nvPr/>
        </p:nvGrpSpPr>
        <p:grpSpPr>
          <a:xfrm>
            <a:off x="1348740" y="2943801"/>
            <a:ext cx="15590520" cy="6211530"/>
            <a:chOff x="0" y="64393"/>
            <a:chExt cx="15590520" cy="6211530"/>
          </a:xfrm>
        </p:grpSpPr>
        <p:sp>
          <p:nvSpPr>
            <p:cNvPr id="145" name="Google Shape;145;p18"/>
            <p:cNvSpPr/>
            <p:nvPr/>
          </p:nvSpPr>
          <p:spPr>
            <a:xfrm>
              <a:off x="0" y="6439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8"/>
            <p:cNvSpPr txBox="1"/>
            <p:nvPr/>
          </p:nvSpPr>
          <p:spPr>
            <a:xfrm>
              <a:off x="30442" y="9483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Configuración y carga de dato</a:t>
              </a:r>
              <a:r>
                <a:rPr lang="en-US" sz="2600">
                  <a:solidFill>
                    <a:schemeClr val="lt1"/>
                  </a:solidFill>
                  <a:latin typeface="Calibri"/>
                  <a:ea typeface="Calibri"/>
                  <a:cs typeface="Calibri"/>
                  <a:sym typeface="Calibri"/>
                </a:rPr>
                <a:t>s</a:t>
              </a:r>
              <a:endParaRPr/>
            </a:p>
          </p:txBody>
        </p:sp>
        <p:sp>
          <p:nvSpPr>
            <p:cNvPr id="147" name="Google Shape;147;p18"/>
            <p:cNvSpPr/>
            <p:nvPr/>
          </p:nvSpPr>
          <p:spPr>
            <a:xfrm>
              <a:off x="0" y="76288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8"/>
            <p:cNvSpPr txBox="1"/>
            <p:nvPr/>
          </p:nvSpPr>
          <p:spPr>
            <a:xfrm>
              <a:off x="30442" y="79332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Estandarización de nombres de columna</a:t>
              </a:r>
              <a:endParaRPr/>
            </a:p>
          </p:txBody>
        </p:sp>
        <p:sp>
          <p:nvSpPr>
            <p:cNvPr id="149" name="Google Shape;149;p18"/>
            <p:cNvSpPr/>
            <p:nvPr/>
          </p:nvSpPr>
          <p:spPr>
            <a:xfrm>
              <a:off x="0" y="146137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8"/>
            <p:cNvSpPr txBox="1"/>
            <p:nvPr/>
          </p:nvSpPr>
          <p:spPr>
            <a:xfrm>
              <a:off x="30442" y="149181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Eliminación de datos personales</a:t>
              </a:r>
              <a:endParaRPr/>
            </a:p>
          </p:txBody>
        </p:sp>
        <p:sp>
          <p:nvSpPr>
            <p:cNvPr id="151" name="Google Shape;151;p18"/>
            <p:cNvSpPr/>
            <p:nvPr/>
          </p:nvSpPr>
          <p:spPr>
            <a:xfrm>
              <a:off x="0" y="215986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8"/>
            <p:cNvSpPr txBox="1"/>
            <p:nvPr/>
          </p:nvSpPr>
          <p:spPr>
            <a:xfrm>
              <a:off x="30442" y="219030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Limpieza de inconsistencias</a:t>
              </a:r>
              <a:endParaRPr sz="2900">
                <a:solidFill>
                  <a:srgbClr val="FFFFFF"/>
                </a:solidFill>
                <a:latin typeface="Georgia"/>
                <a:ea typeface="Georgia"/>
                <a:cs typeface="Georgia"/>
                <a:sym typeface="Georgia"/>
              </a:endParaRPr>
            </a:p>
          </p:txBody>
        </p:sp>
        <p:sp>
          <p:nvSpPr>
            <p:cNvPr id="153" name="Google Shape;153;p18"/>
            <p:cNvSpPr/>
            <p:nvPr/>
          </p:nvSpPr>
          <p:spPr>
            <a:xfrm>
              <a:off x="0" y="285835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8"/>
            <p:cNvSpPr txBox="1"/>
            <p:nvPr/>
          </p:nvSpPr>
          <p:spPr>
            <a:xfrm>
              <a:off x="30442" y="288879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Identificación de valores faltantes</a:t>
              </a:r>
              <a:endParaRPr/>
            </a:p>
          </p:txBody>
        </p:sp>
        <p:sp>
          <p:nvSpPr>
            <p:cNvPr id="155" name="Google Shape;155;p18"/>
            <p:cNvSpPr/>
            <p:nvPr/>
          </p:nvSpPr>
          <p:spPr>
            <a:xfrm>
              <a:off x="0" y="355684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8"/>
            <p:cNvSpPr txBox="1"/>
            <p:nvPr/>
          </p:nvSpPr>
          <p:spPr>
            <a:xfrm>
              <a:off x="30442" y="358728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Variables derivadas</a:t>
              </a:r>
              <a:endParaRPr/>
            </a:p>
          </p:txBody>
        </p:sp>
        <p:sp>
          <p:nvSpPr>
            <p:cNvPr id="157" name="Google Shape;157;p18"/>
            <p:cNvSpPr/>
            <p:nvPr/>
          </p:nvSpPr>
          <p:spPr>
            <a:xfrm>
              <a:off x="0" y="425533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8"/>
            <p:cNvSpPr txBox="1"/>
            <p:nvPr/>
          </p:nvSpPr>
          <p:spPr>
            <a:xfrm>
              <a:off x="30442" y="428577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Estructuración por grupos temáticos </a:t>
              </a:r>
              <a:endParaRPr sz="2900">
                <a:solidFill>
                  <a:srgbClr val="FFFFFF"/>
                </a:solidFill>
                <a:latin typeface="Georgia"/>
                <a:ea typeface="Georgia"/>
                <a:cs typeface="Georgia"/>
                <a:sym typeface="Georgia"/>
              </a:endParaRPr>
            </a:p>
          </p:txBody>
        </p:sp>
        <p:sp>
          <p:nvSpPr>
            <p:cNvPr id="159" name="Google Shape;159;p18"/>
            <p:cNvSpPr/>
            <p:nvPr/>
          </p:nvSpPr>
          <p:spPr>
            <a:xfrm>
              <a:off x="0" y="495382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8"/>
            <p:cNvSpPr txBox="1"/>
            <p:nvPr/>
          </p:nvSpPr>
          <p:spPr>
            <a:xfrm>
              <a:off x="30442" y="498426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Exportación de resultados </a:t>
              </a:r>
              <a:endParaRPr/>
            </a:p>
          </p:txBody>
        </p:sp>
        <p:sp>
          <p:nvSpPr>
            <p:cNvPr id="161" name="Google Shape;161;p18"/>
            <p:cNvSpPr/>
            <p:nvPr/>
          </p:nvSpPr>
          <p:spPr>
            <a:xfrm>
              <a:off x="0" y="5652313"/>
              <a:ext cx="15590520" cy="62361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8"/>
            <p:cNvSpPr txBox="1"/>
            <p:nvPr/>
          </p:nvSpPr>
          <p:spPr>
            <a:xfrm>
              <a:off x="30442" y="5682755"/>
              <a:ext cx="15529636" cy="562726"/>
            </a:xfrm>
            <a:prstGeom prst="rect">
              <a:avLst/>
            </a:prstGeom>
            <a:noFill/>
            <a:ln>
              <a:noFill/>
            </a:ln>
          </p:spPr>
          <p:txBody>
            <a:bodyPr spcFirstLastPara="1" wrap="square" lIns="99050" tIns="99050" rIns="99050" bIns="99050" anchor="ctr" anchorCtr="0">
              <a:noAutofit/>
            </a:bodyPr>
            <a:lstStyle/>
            <a:p>
              <a:pPr marL="0" marR="0" lvl="0" indent="0" algn="l" rtl="0">
                <a:lnSpc>
                  <a:spcPct val="90000"/>
                </a:lnSpc>
                <a:spcBef>
                  <a:spcPts val="0"/>
                </a:spcBef>
                <a:spcAft>
                  <a:spcPts val="0"/>
                </a:spcAft>
                <a:buClr>
                  <a:schemeClr val="lt1"/>
                </a:buClr>
                <a:buSzPts val="2600"/>
                <a:buFont typeface="Calibri"/>
                <a:buNone/>
              </a:pPr>
              <a:r>
                <a:rPr lang="en-US" sz="2900">
                  <a:solidFill>
                    <a:srgbClr val="FFFFFF"/>
                  </a:solidFill>
                  <a:latin typeface="Georgia"/>
                  <a:ea typeface="Georgia"/>
                  <a:cs typeface="Georgia"/>
                  <a:sym typeface="Georgia"/>
                </a:rPr>
                <a:t>Visualizaciones</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19"/>
          <p:cNvSpPr/>
          <p:nvPr/>
        </p:nvSpPr>
        <p:spPr>
          <a:xfrm>
            <a:off x="0" y="0"/>
            <a:ext cx="18288000" cy="10287000"/>
          </a:xfrm>
          <a:prstGeom prst="rect">
            <a:avLst/>
          </a:prstGeom>
          <a:solidFill>
            <a:srgbClr val="4E4E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19"/>
          <p:cNvSpPr/>
          <p:nvPr/>
        </p:nvSpPr>
        <p:spPr>
          <a:xfrm>
            <a:off x="9385299" y="720090"/>
            <a:ext cx="8187183" cy="884682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19"/>
          <p:cNvSpPr/>
          <p:nvPr/>
        </p:nvSpPr>
        <p:spPr>
          <a:xfrm>
            <a:off x="715518" y="720090"/>
            <a:ext cx="8187181" cy="884682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0" name="Google Shape;170;p19"/>
          <p:cNvGrpSpPr/>
          <p:nvPr/>
        </p:nvGrpSpPr>
        <p:grpSpPr>
          <a:xfrm>
            <a:off x="9631552" y="3577849"/>
            <a:ext cx="7694676" cy="3131301"/>
            <a:chOff x="0" y="0"/>
            <a:chExt cx="7864474" cy="3200400"/>
          </a:xfrm>
        </p:grpSpPr>
        <p:sp>
          <p:nvSpPr>
            <p:cNvPr id="171" name="Google Shape;171;p19"/>
            <p:cNvSpPr/>
            <p:nvPr/>
          </p:nvSpPr>
          <p:spPr>
            <a:xfrm>
              <a:off x="0" y="0"/>
              <a:ext cx="7864474" cy="3200400"/>
            </a:xfrm>
            <a:custGeom>
              <a:avLst/>
              <a:gdLst/>
              <a:ahLst/>
              <a:cxnLst/>
              <a:rect l="l" t="t" r="r" b="b"/>
              <a:pathLst>
                <a:path w="7864474" h="3200400" extrusionOk="0">
                  <a:moveTo>
                    <a:pt x="0" y="0"/>
                  </a:moveTo>
                  <a:lnTo>
                    <a:pt x="7864474" y="0"/>
                  </a:lnTo>
                  <a:lnTo>
                    <a:pt x="7864474" y="3200400"/>
                  </a:lnTo>
                  <a:lnTo>
                    <a:pt x="0" y="32004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19"/>
            <p:cNvSpPr txBox="1"/>
            <p:nvPr/>
          </p:nvSpPr>
          <p:spPr>
            <a:xfrm>
              <a:off x="0" y="66675"/>
              <a:ext cx="7864474" cy="3133725"/>
            </a:xfrm>
            <a:prstGeom prst="rect">
              <a:avLst/>
            </a:prstGeom>
            <a:noFill/>
            <a:ln>
              <a:noFill/>
            </a:ln>
          </p:spPr>
          <p:txBody>
            <a:bodyPr spcFirstLastPara="1" wrap="square" lIns="0" tIns="0" rIns="0" bIns="0" anchor="b" anchorCtr="0">
              <a:noAutofit/>
            </a:bodyPr>
            <a:lstStyle/>
            <a:p>
              <a:pPr marL="0" marR="0" lvl="0" indent="0" algn="l" rtl="0">
                <a:lnSpc>
                  <a:spcPct val="107996"/>
                </a:lnSpc>
                <a:spcBef>
                  <a:spcPts val="0"/>
                </a:spcBef>
                <a:spcAft>
                  <a:spcPts val="0"/>
                </a:spcAft>
                <a:buNone/>
              </a:pPr>
              <a:r>
                <a:rPr lang="en-US" sz="6240">
                  <a:solidFill>
                    <a:srgbClr val="000000"/>
                  </a:solidFill>
                  <a:latin typeface="Georgia"/>
                  <a:ea typeface="Georgia"/>
                  <a:cs typeface="Georgia"/>
                  <a:sym typeface="Georgia"/>
                </a:rPr>
                <a:t>Carga de datos </a:t>
              </a:r>
              <a:endParaRPr sz="4800">
                <a:solidFill>
                  <a:srgbClr val="000000"/>
                </a:solidFill>
                <a:latin typeface="Georgia"/>
                <a:ea typeface="Georgia"/>
                <a:cs typeface="Georgia"/>
                <a:sym typeface="Georgia"/>
              </a:endParaRPr>
            </a:p>
          </p:txBody>
        </p:sp>
      </p:grpSp>
      <p:sp>
        <p:nvSpPr>
          <p:cNvPr id="173" name="Google Shape;173;p19"/>
          <p:cNvSpPr/>
          <p:nvPr/>
        </p:nvSpPr>
        <p:spPr>
          <a:xfrm>
            <a:off x="961770" y="3864246"/>
            <a:ext cx="7694666" cy="2558507"/>
          </a:xfrm>
          <a:custGeom>
            <a:avLst/>
            <a:gdLst/>
            <a:ahLst/>
            <a:cxnLst/>
            <a:rect l="l" t="t" r="r" b="b"/>
            <a:pathLst>
              <a:path w="11687683" h="3886200" extrusionOk="0">
                <a:moveTo>
                  <a:pt x="0" y="0"/>
                </a:moveTo>
                <a:lnTo>
                  <a:pt x="11687683" y="0"/>
                </a:lnTo>
                <a:lnTo>
                  <a:pt x="11687683" y="3886200"/>
                </a:lnTo>
                <a:lnTo>
                  <a:pt x="0" y="3886200"/>
                </a:lnTo>
                <a:lnTo>
                  <a:pt x="0" y="0"/>
                </a:lnTo>
                <a:close/>
              </a:path>
            </a:pathLst>
          </a:custGeom>
          <a:blipFill rotWithShape="1">
            <a:blip r:embed="rId3">
              <a:alphaModFix/>
            </a:blip>
            <a:stretch>
              <a:fillRect l="-10523" r="-105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7"/>
        <p:cNvGrpSpPr/>
        <p:nvPr/>
      </p:nvGrpSpPr>
      <p:grpSpPr>
        <a:xfrm>
          <a:off x="0" y="0"/>
          <a:ext cx="0" cy="0"/>
          <a:chOff x="0" y="0"/>
          <a:chExt cx="0" cy="0"/>
        </a:xfrm>
      </p:grpSpPr>
      <p:sp>
        <p:nvSpPr>
          <p:cNvPr id="178" name="Google Shape;178;p20"/>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9" name="Google Shape;179;p20"/>
          <p:cNvGrpSpPr/>
          <p:nvPr/>
        </p:nvGrpSpPr>
        <p:grpSpPr>
          <a:xfrm rot="5400000">
            <a:off x="-3510661" y="3999274"/>
            <a:ext cx="8790076" cy="791568"/>
            <a:chOff x="6081624" y="1998368"/>
            <a:chExt cx="5613457" cy="782175"/>
          </a:xfrm>
        </p:grpSpPr>
        <p:sp>
          <p:nvSpPr>
            <p:cNvPr id="180" name="Google Shape;180;p20"/>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20"/>
            <p:cNvSpPr/>
            <p:nvPr/>
          </p:nvSpPr>
          <p:spPr>
            <a:xfrm rot="10800000">
              <a:off x="6081624" y="1998844"/>
              <a:ext cx="5372968"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2" name="Google Shape;182;p20"/>
          <p:cNvSpPr/>
          <p:nvPr/>
        </p:nvSpPr>
        <p:spPr>
          <a:xfrm>
            <a:off x="869292" y="776845"/>
            <a:ext cx="16667593" cy="8786949"/>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20"/>
          <p:cNvSpPr/>
          <p:nvPr/>
        </p:nvSpPr>
        <p:spPr>
          <a:xfrm flipH="1">
            <a:off x="1583571" y="3395047"/>
            <a:ext cx="7406640" cy="4114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4" name="Google Shape;184;p20"/>
          <p:cNvSpPr txBox="1"/>
          <p:nvPr/>
        </p:nvSpPr>
        <p:spPr>
          <a:xfrm>
            <a:off x="1583572" y="3762157"/>
            <a:ext cx="7560428" cy="5448740"/>
          </a:xfrm>
          <a:prstGeom prst="rect">
            <a:avLst/>
          </a:prstGeom>
          <a:noFill/>
          <a:ln>
            <a:noFill/>
          </a:ln>
        </p:spPr>
        <p:txBody>
          <a:bodyPr spcFirstLastPara="1" wrap="square" lIns="91425" tIns="45700" rIns="91425" bIns="45700" anchor="ctr" anchorCtr="0">
            <a:normAutofit/>
          </a:bodyPr>
          <a:lstStyle/>
          <a:p>
            <a:pPr marL="0" marR="0" lvl="0" indent="12700" algn="l" rtl="0">
              <a:lnSpc>
                <a:spcPct val="90000"/>
              </a:lnSpc>
              <a:spcBef>
                <a:spcPts val="0"/>
              </a:spcBef>
              <a:spcAft>
                <a:spcPts val="0"/>
              </a:spcAft>
              <a:buClr>
                <a:schemeClr val="dk1"/>
              </a:buClr>
              <a:buSzPts val="2800"/>
              <a:buFont typeface="Arial"/>
              <a:buChar char="•"/>
            </a:pPr>
            <a:r>
              <a:rPr lang="en-US" sz="2800">
                <a:solidFill>
                  <a:schemeClr val="dk1"/>
                </a:solidFill>
                <a:latin typeface="Georgia"/>
                <a:ea typeface="Georgia"/>
                <a:cs typeface="Georgia"/>
                <a:sym typeface="Georgia"/>
              </a:rPr>
              <a:t>Se identificaron y </a:t>
            </a:r>
            <a:r>
              <a:rPr lang="en-US" sz="2800" b="1">
                <a:solidFill>
                  <a:schemeClr val="dk1"/>
                </a:solidFill>
                <a:latin typeface="Georgia"/>
                <a:ea typeface="Georgia"/>
                <a:cs typeface="Georgia"/>
                <a:sym typeface="Georgia"/>
              </a:rPr>
              <a:t>eliminaron 10 columnas con información personal identificable (PII)</a:t>
            </a:r>
            <a:r>
              <a:rPr lang="en-US" sz="2800">
                <a:solidFill>
                  <a:schemeClr val="dk1"/>
                </a:solidFill>
                <a:latin typeface="Georgia"/>
                <a:ea typeface="Georgia"/>
                <a:cs typeface="Georgia"/>
                <a:sym typeface="Georgia"/>
              </a:rPr>
              <a:t> para asegurar la privacidad.</a:t>
            </a:r>
            <a:endParaRPr sz="1200">
              <a:latin typeface="Georgia"/>
              <a:ea typeface="Georgia"/>
              <a:cs typeface="Georgia"/>
              <a:sym typeface="Georgia"/>
            </a:endParaRPr>
          </a:p>
          <a:p>
            <a:pPr marL="0" marR="0" lvl="0" indent="190500" algn="l" rtl="0">
              <a:lnSpc>
                <a:spcPct val="90000"/>
              </a:lnSpc>
              <a:spcBef>
                <a:spcPts val="600"/>
              </a:spcBef>
              <a:spcAft>
                <a:spcPts val="0"/>
              </a:spcAft>
              <a:buClr>
                <a:schemeClr val="dk1"/>
              </a:buClr>
              <a:buSzPts val="3000"/>
              <a:buFont typeface="Arial"/>
              <a:buNone/>
            </a:pPr>
            <a:endParaRPr sz="3000">
              <a:solidFill>
                <a:schemeClr val="dk1"/>
              </a:solidFill>
              <a:latin typeface="Calibri"/>
              <a:ea typeface="Calibri"/>
              <a:cs typeface="Calibri"/>
              <a:sym typeface="Calibri"/>
            </a:endParaRPr>
          </a:p>
        </p:txBody>
      </p:sp>
      <p:grpSp>
        <p:nvGrpSpPr>
          <p:cNvPr id="185" name="Google Shape;185;p20"/>
          <p:cNvGrpSpPr/>
          <p:nvPr/>
        </p:nvGrpSpPr>
        <p:grpSpPr>
          <a:xfrm>
            <a:off x="10420000" y="5958896"/>
            <a:ext cx="6583680" cy="2679188"/>
            <a:chOff x="0" y="0"/>
            <a:chExt cx="7864474" cy="3200400"/>
          </a:xfrm>
        </p:grpSpPr>
        <p:sp>
          <p:nvSpPr>
            <p:cNvPr id="186" name="Google Shape;186;p20"/>
            <p:cNvSpPr/>
            <p:nvPr/>
          </p:nvSpPr>
          <p:spPr>
            <a:xfrm>
              <a:off x="0" y="0"/>
              <a:ext cx="7864474" cy="3200400"/>
            </a:xfrm>
            <a:custGeom>
              <a:avLst/>
              <a:gdLst/>
              <a:ahLst/>
              <a:cxnLst/>
              <a:rect l="l" t="t" r="r" b="b"/>
              <a:pathLst>
                <a:path w="7864474" h="3200400" extrusionOk="0">
                  <a:moveTo>
                    <a:pt x="0" y="0"/>
                  </a:moveTo>
                  <a:lnTo>
                    <a:pt x="7864474" y="0"/>
                  </a:lnTo>
                  <a:lnTo>
                    <a:pt x="7864474" y="3200400"/>
                  </a:lnTo>
                  <a:lnTo>
                    <a:pt x="0" y="32004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20"/>
            <p:cNvSpPr txBox="1"/>
            <p:nvPr/>
          </p:nvSpPr>
          <p:spPr>
            <a:xfrm>
              <a:off x="0" y="66675"/>
              <a:ext cx="7864474" cy="3133725"/>
            </a:xfrm>
            <a:prstGeom prst="rect">
              <a:avLst/>
            </a:prstGeom>
            <a:noFill/>
            <a:ln>
              <a:noFill/>
            </a:ln>
          </p:spPr>
          <p:txBody>
            <a:bodyPr spcFirstLastPara="1" wrap="square" lIns="0" tIns="0" rIns="0" bIns="0" anchor="b" anchorCtr="0">
              <a:noAutofit/>
            </a:bodyPr>
            <a:lstStyle/>
            <a:p>
              <a:pPr marL="0" marR="0" lvl="0" indent="0" algn="l" rtl="0">
                <a:lnSpc>
                  <a:spcPct val="107995"/>
                </a:lnSpc>
                <a:spcBef>
                  <a:spcPts val="0"/>
                </a:spcBef>
                <a:spcAft>
                  <a:spcPts val="0"/>
                </a:spcAft>
                <a:buNone/>
              </a:pPr>
              <a:r>
                <a:rPr lang="en-US" sz="5328">
                  <a:solidFill>
                    <a:srgbClr val="000000"/>
                  </a:solidFill>
                  <a:latin typeface="Georgia"/>
                  <a:ea typeface="Georgia"/>
                  <a:cs typeface="Georgia"/>
                  <a:sym typeface="Georgia"/>
                </a:rPr>
                <a:t>Eliminación de información personal</a:t>
              </a:r>
              <a:endParaRPr sz="4800">
                <a:solidFill>
                  <a:srgbClr val="000000"/>
                </a:solidFill>
                <a:latin typeface="Georgia"/>
                <a:ea typeface="Georgia"/>
                <a:cs typeface="Georgia"/>
                <a:sym typeface="Georgia"/>
              </a:endParaRPr>
            </a:p>
          </p:txBody>
        </p:sp>
      </p:grpSp>
      <p:sp>
        <p:nvSpPr>
          <p:cNvPr id="188" name="Google Shape;188;p20"/>
          <p:cNvSpPr/>
          <p:nvPr/>
        </p:nvSpPr>
        <p:spPr>
          <a:xfrm>
            <a:off x="10420000" y="1446061"/>
            <a:ext cx="6583680" cy="3302473"/>
          </a:xfrm>
          <a:custGeom>
            <a:avLst/>
            <a:gdLst/>
            <a:ahLst/>
            <a:cxnLst/>
            <a:rect l="l" t="t" r="r" b="b"/>
            <a:pathLst>
              <a:path w="12344400" h="6192139" extrusionOk="0">
                <a:moveTo>
                  <a:pt x="0" y="0"/>
                </a:moveTo>
                <a:lnTo>
                  <a:pt x="12344400" y="0"/>
                </a:lnTo>
                <a:lnTo>
                  <a:pt x="12344400" y="6192139"/>
                </a:lnTo>
                <a:lnTo>
                  <a:pt x="0" y="6192139"/>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21"/>
          <p:cNvSpPr/>
          <p:nvPr/>
        </p:nvSpPr>
        <p:spPr>
          <a:xfrm>
            <a:off x="0" y="0"/>
            <a:ext cx="18288000" cy="10287000"/>
          </a:xfrm>
          <a:prstGeom prst="rect">
            <a:avLst/>
          </a:prstGeom>
          <a:solidFill>
            <a:srgbClr val="7F7F7F">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21"/>
          <p:cNvSpPr/>
          <p:nvPr/>
        </p:nvSpPr>
        <p:spPr>
          <a:xfrm>
            <a:off x="715518" y="730635"/>
            <a:ext cx="8187181" cy="8846820"/>
          </a:xfrm>
          <a:prstGeom prst="rect">
            <a:avLst/>
          </a:prstGeom>
          <a:solidFill>
            <a:srgbClr val="FFFFFF"/>
          </a:solidFill>
          <a:ln w="19050" cap="flat" cmpd="sng">
            <a:solidFill>
              <a:srgbClr val="4E4E4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21"/>
          <p:cNvSpPr/>
          <p:nvPr/>
        </p:nvSpPr>
        <p:spPr>
          <a:xfrm>
            <a:off x="9385299" y="720090"/>
            <a:ext cx="8187181" cy="8846820"/>
          </a:xfrm>
          <a:prstGeom prst="rect">
            <a:avLst/>
          </a:prstGeom>
          <a:solidFill>
            <a:srgbClr val="FFFFFF"/>
          </a:solidFill>
          <a:ln w="19050" cap="flat" cmpd="sng">
            <a:solidFill>
              <a:srgbClr val="4E4E4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96" name="Google Shape;196;p21"/>
          <p:cNvGrpSpPr/>
          <p:nvPr/>
        </p:nvGrpSpPr>
        <p:grpSpPr>
          <a:xfrm>
            <a:off x="9631551" y="3577849"/>
            <a:ext cx="7694676" cy="3131301"/>
            <a:chOff x="0" y="0"/>
            <a:chExt cx="7864474" cy="3200400"/>
          </a:xfrm>
        </p:grpSpPr>
        <p:sp>
          <p:nvSpPr>
            <p:cNvPr id="197" name="Google Shape;197;p21"/>
            <p:cNvSpPr/>
            <p:nvPr/>
          </p:nvSpPr>
          <p:spPr>
            <a:xfrm>
              <a:off x="0" y="0"/>
              <a:ext cx="7864474" cy="3200400"/>
            </a:xfrm>
            <a:custGeom>
              <a:avLst/>
              <a:gdLst/>
              <a:ahLst/>
              <a:cxnLst/>
              <a:rect l="l" t="t" r="r" b="b"/>
              <a:pathLst>
                <a:path w="7864474" h="3200400" extrusionOk="0">
                  <a:moveTo>
                    <a:pt x="0" y="0"/>
                  </a:moveTo>
                  <a:lnTo>
                    <a:pt x="7864474" y="0"/>
                  </a:lnTo>
                  <a:lnTo>
                    <a:pt x="7864474" y="3200400"/>
                  </a:lnTo>
                  <a:lnTo>
                    <a:pt x="0" y="32004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21"/>
            <p:cNvSpPr txBox="1"/>
            <p:nvPr/>
          </p:nvSpPr>
          <p:spPr>
            <a:xfrm>
              <a:off x="0" y="66675"/>
              <a:ext cx="7864474" cy="3133725"/>
            </a:xfrm>
            <a:prstGeom prst="rect">
              <a:avLst/>
            </a:prstGeom>
            <a:noFill/>
            <a:ln>
              <a:noFill/>
            </a:ln>
          </p:spPr>
          <p:txBody>
            <a:bodyPr spcFirstLastPara="1" wrap="square" lIns="0" tIns="0" rIns="0" bIns="0" anchor="b" anchorCtr="0">
              <a:noAutofit/>
            </a:bodyPr>
            <a:lstStyle/>
            <a:p>
              <a:pPr marL="0" marR="0" lvl="0" indent="0" algn="l" rtl="0">
                <a:lnSpc>
                  <a:spcPct val="107996"/>
                </a:lnSpc>
                <a:spcBef>
                  <a:spcPts val="0"/>
                </a:spcBef>
                <a:spcAft>
                  <a:spcPts val="0"/>
                </a:spcAft>
                <a:buNone/>
              </a:pPr>
              <a:r>
                <a:rPr lang="en-US" sz="6240">
                  <a:solidFill>
                    <a:srgbClr val="000000"/>
                  </a:solidFill>
                  <a:latin typeface="Georgia"/>
                  <a:ea typeface="Georgia"/>
                  <a:cs typeface="Georgia"/>
                  <a:sym typeface="Georgia"/>
                </a:rPr>
                <a:t>Datos faltantes</a:t>
              </a:r>
              <a:endParaRPr sz="4800">
                <a:solidFill>
                  <a:srgbClr val="000000"/>
                </a:solidFill>
                <a:latin typeface="Georgia"/>
                <a:ea typeface="Georgia"/>
                <a:cs typeface="Georgia"/>
                <a:sym typeface="Georgia"/>
              </a:endParaRPr>
            </a:p>
          </p:txBody>
        </p:sp>
      </p:grpSp>
      <p:sp>
        <p:nvSpPr>
          <p:cNvPr id="199" name="Google Shape;199;p21"/>
          <p:cNvSpPr/>
          <p:nvPr/>
        </p:nvSpPr>
        <p:spPr>
          <a:xfrm>
            <a:off x="961770" y="2678658"/>
            <a:ext cx="7694676" cy="4950796"/>
          </a:xfrm>
          <a:custGeom>
            <a:avLst/>
            <a:gdLst/>
            <a:ahLst/>
            <a:cxnLst/>
            <a:rect l="l" t="t" r="r" b="b"/>
            <a:pathLst>
              <a:path w="12344400" h="7942453" extrusionOk="0">
                <a:moveTo>
                  <a:pt x="0" y="0"/>
                </a:moveTo>
                <a:lnTo>
                  <a:pt x="12344400" y="0"/>
                </a:lnTo>
                <a:lnTo>
                  <a:pt x="12344400" y="7942453"/>
                </a:lnTo>
                <a:lnTo>
                  <a:pt x="0" y="794245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pSp>
        <p:nvGrpSpPr>
          <p:cNvPr id="204" name="Google Shape;204;p22"/>
          <p:cNvGrpSpPr/>
          <p:nvPr/>
        </p:nvGrpSpPr>
        <p:grpSpPr>
          <a:xfrm>
            <a:off x="1259682" y="562430"/>
            <a:ext cx="5898376" cy="2523670"/>
            <a:chOff x="0" y="-164494"/>
            <a:chExt cx="7864500" cy="3364894"/>
          </a:xfrm>
        </p:grpSpPr>
        <p:sp>
          <p:nvSpPr>
            <p:cNvPr id="205" name="Google Shape;205;p22"/>
            <p:cNvSpPr/>
            <p:nvPr/>
          </p:nvSpPr>
          <p:spPr>
            <a:xfrm>
              <a:off x="0" y="0"/>
              <a:ext cx="7864474" cy="3200400"/>
            </a:xfrm>
            <a:custGeom>
              <a:avLst/>
              <a:gdLst/>
              <a:ahLst/>
              <a:cxnLst/>
              <a:rect l="l" t="t" r="r" b="b"/>
              <a:pathLst>
                <a:path w="7864474" h="3200400" extrusionOk="0">
                  <a:moveTo>
                    <a:pt x="0" y="0"/>
                  </a:moveTo>
                  <a:lnTo>
                    <a:pt x="7864474" y="0"/>
                  </a:lnTo>
                  <a:lnTo>
                    <a:pt x="7864474" y="3200400"/>
                  </a:lnTo>
                  <a:lnTo>
                    <a:pt x="0" y="32004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22"/>
            <p:cNvSpPr txBox="1"/>
            <p:nvPr/>
          </p:nvSpPr>
          <p:spPr>
            <a:xfrm>
              <a:off x="0" y="-164494"/>
              <a:ext cx="7864500" cy="3133800"/>
            </a:xfrm>
            <a:prstGeom prst="rect">
              <a:avLst/>
            </a:prstGeom>
            <a:noFill/>
            <a:ln>
              <a:noFill/>
            </a:ln>
          </p:spPr>
          <p:txBody>
            <a:bodyPr spcFirstLastPara="1" wrap="square" lIns="0" tIns="0" rIns="0" bIns="0" anchor="b" anchorCtr="0">
              <a:noAutofit/>
            </a:bodyPr>
            <a:lstStyle/>
            <a:p>
              <a:pPr marL="0" marR="0" lvl="0" indent="0" algn="l" rtl="0">
                <a:lnSpc>
                  <a:spcPct val="108000"/>
                </a:lnSpc>
                <a:spcBef>
                  <a:spcPts val="0"/>
                </a:spcBef>
                <a:spcAft>
                  <a:spcPts val="0"/>
                </a:spcAft>
                <a:buNone/>
              </a:pPr>
              <a:r>
                <a:rPr lang="en-US" sz="4800">
                  <a:solidFill>
                    <a:srgbClr val="000000"/>
                  </a:solidFill>
                  <a:latin typeface="Georgia"/>
                  <a:ea typeface="Georgia"/>
                  <a:cs typeface="Georgia"/>
                  <a:sym typeface="Georgia"/>
                </a:rPr>
                <a:t>Variables Derivadas </a:t>
              </a:r>
              <a:endParaRPr>
                <a:latin typeface="Georgia"/>
                <a:ea typeface="Georgia"/>
                <a:cs typeface="Georgia"/>
                <a:sym typeface="Georgia"/>
              </a:endParaRPr>
            </a:p>
          </p:txBody>
        </p:sp>
      </p:grpSp>
      <p:sp>
        <p:nvSpPr>
          <p:cNvPr id="207" name="Google Shape;207;p22"/>
          <p:cNvSpPr/>
          <p:nvPr/>
        </p:nvSpPr>
        <p:spPr>
          <a:xfrm>
            <a:off x="7774782" y="3420741"/>
            <a:ext cx="9258300" cy="3431191"/>
          </a:xfrm>
          <a:custGeom>
            <a:avLst/>
            <a:gdLst/>
            <a:ahLst/>
            <a:cxnLst/>
            <a:rect l="l" t="t" r="r" b="b"/>
            <a:pathLst>
              <a:path w="12344400" h="4574921" extrusionOk="0">
                <a:moveTo>
                  <a:pt x="0" y="0"/>
                </a:moveTo>
                <a:lnTo>
                  <a:pt x="12344400" y="0"/>
                </a:lnTo>
                <a:lnTo>
                  <a:pt x="12344400" y="4574921"/>
                </a:lnTo>
                <a:lnTo>
                  <a:pt x="0" y="457492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8" name="Google Shape;208;p22"/>
          <p:cNvSpPr txBox="1"/>
          <p:nvPr/>
        </p:nvSpPr>
        <p:spPr>
          <a:xfrm>
            <a:off x="1351125" y="3160400"/>
            <a:ext cx="6141300" cy="4758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400">
                <a:solidFill>
                  <a:srgbClr val="000000"/>
                </a:solidFill>
                <a:latin typeface="Georgia"/>
                <a:ea typeface="Georgia"/>
                <a:cs typeface="Georgia"/>
                <a:sym typeface="Georgia"/>
              </a:rPr>
              <a:t>Se crearon </a:t>
            </a:r>
            <a:r>
              <a:rPr lang="en-US" sz="2400" b="1">
                <a:solidFill>
                  <a:srgbClr val="000000"/>
                </a:solidFill>
                <a:latin typeface="Georgia"/>
                <a:ea typeface="Georgia"/>
                <a:cs typeface="Georgia"/>
                <a:sym typeface="Georgia"/>
              </a:rPr>
              <a:t>9 variables nuevas</a:t>
            </a:r>
            <a:r>
              <a:rPr lang="en-US" sz="2400">
                <a:solidFill>
                  <a:srgbClr val="000000"/>
                </a:solidFill>
                <a:latin typeface="Georgia"/>
                <a:ea typeface="Georgia"/>
                <a:cs typeface="Georgia"/>
                <a:sym typeface="Georgia"/>
              </a:rPr>
              <a:t> basadas en la lógica del negocio y la necesidad de análisis, manteniendo etiquetas claras y canónicas (ej. RANGO_EDAD, ZONA_LABEL, SEXO_LABEL, ESTRATO_SOCIOECONÓMICO_LABEL, LUGAR_TRABAJO_LABEL, AFILIACIÓN_AL_SGSSS_LABEL, FLAG_AFILIACION_SGSSS, ESTADO_RESULTADO, UPZ_UPR_ALIAS). Estas variables facilitan el análisis y la visualización</a:t>
            </a:r>
            <a:endParaRPr>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2"/>
        <p:cNvGrpSpPr/>
        <p:nvPr/>
      </p:nvGrpSpPr>
      <p:grpSpPr>
        <a:xfrm>
          <a:off x="0" y="0"/>
          <a:ext cx="0" cy="0"/>
          <a:chOff x="0" y="0"/>
          <a:chExt cx="0" cy="0"/>
        </a:xfrm>
      </p:grpSpPr>
      <p:sp>
        <p:nvSpPr>
          <p:cNvPr id="213" name="Google Shape;213;p23"/>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4" name="Google Shape;214;p23"/>
          <p:cNvGrpSpPr/>
          <p:nvPr/>
        </p:nvGrpSpPr>
        <p:grpSpPr>
          <a:xfrm rot="5400000">
            <a:off x="-3510661" y="3999274"/>
            <a:ext cx="8790076" cy="791568"/>
            <a:chOff x="6081624" y="1998368"/>
            <a:chExt cx="5613457" cy="782175"/>
          </a:xfrm>
        </p:grpSpPr>
        <p:sp>
          <p:nvSpPr>
            <p:cNvPr id="215" name="Google Shape;215;p23"/>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23"/>
            <p:cNvSpPr/>
            <p:nvPr/>
          </p:nvSpPr>
          <p:spPr>
            <a:xfrm rot="10800000">
              <a:off x="6081624" y="1998844"/>
              <a:ext cx="5372968"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17" name="Google Shape;217;p23"/>
          <p:cNvSpPr/>
          <p:nvPr/>
        </p:nvSpPr>
        <p:spPr>
          <a:xfrm>
            <a:off x="869292" y="776845"/>
            <a:ext cx="16667593" cy="8786949"/>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23"/>
          <p:cNvSpPr/>
          <p:nvPr/>
        </p:nvSpPr>
        <p:spPr>
          <a:xfrm flipH="1">
            <a:off x="1583571" y="3395047"/>
            <a:ext cx="7406640" cy="4114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23"/>
          <p:cNvSpPr txBox="1"/>
          <p:nvPr/>
        </p:nvSpPr>
        <p:spPr>
          <a:xfrm>
            <a:off x="1583572" y="3762157"/>
            <a:ext cx="7560428" cy="544874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000"/>
              <a:buFont typeface="Georgia"/>
              <a:buChar char="•"/>
            </a:pPr>
            <a:r>
              <a:rPr lang="en-US" sz="3000">
                <a:solidFill>
                  <a:schemeClr val="dk1"/>
                </a:solidFill>
                <a:latin typeface="Georgia"/>
                <a:ea typeface="Georgia"/>
                <a:cs typeface="Georgia"/>
                <a:sym typeface="Georgia"/>
              </a:rPr>
              <a:t>Las columnas del dataset final (df_final) se reordenaron en grupos temáticos lógicos (Metadata, Ubicación, Demografía, Trabajo, Salud, Resultado) para una mejor organización.</a:t>
            </a:r>
            <a:endParaRPr>
              <a:latin typeface="Georgia"/>
              <a:ea typeface="Georgia"/>
              <a:cs typeface="Georgia"/>
              <a:sym typeface="Georgia"/>
            </a:endParaRPr>
          </a:p>
          <a:p>
            <a:pPr marL="0" marR="0" lvl="0" indent="190500" algn="l" rtl="0">
              <a:lnSpc>
                <a:spcPct val="90000"/>
              </a:lnSpc>
              <a:spcBef>
                <a:spcPts val="600"/>
              </a:spcBef>
              <a:spcAft>
                <a:spcPts val="0"/>
              </a:spcAft>
              <a:buClr>
                <a:schemeClr val="dk1"/>
              </a:buClr>
              <a:buSzPts val="3000"/>
              <a:buFont typeface="Arial"/>
              <a:buNone/>
            </a:pPr>
            <a:endParaRPr sz="3000">
              <a:solidFill>
                <a:schemeClr val="dk1"/>
              </a:solidFill>
              <a:latin typeface="Georgia"/>
              <a:ea typeface="Georgia"/>
              <a:cs typeface="Georgia"/>
              <a:sym typeface="Georgia"/>
            </a:endParaRPr>
          </a:p>
        </p:txBody>
      </p:sp>
      <p:grpSp>
        <p:nvGrpSpPr>
          <p:cNvPr id="220" name="Google Shape;220;p23"/>
          <p:cNvGrpSpPr/>
          <p:nvPr/>
        </p:nvGrpSpPr>
        <p:grpSpPr>
          <a:xfrm>
            <a:off x="10420000" y="5958896"/>
            <a:ext cx="6583680" cy="2679188"/>
            <a:chOff x="0" y="0"/>
            <a:chExt cx="7864474" cy="3200400"/>
          </a:xfrm>
        </p:grpSpPr>
        <p:sp>
          <p:nvSpPr>
            <p:cNvPr id="221" name="Google Shape;221;p23"/>
            <p:cNvSpPr/>
            <p:nvPr/>
          </p:nvSpPr>
          <p:spPr>
            <a:xfrm>
              <a:off x="0" y="0"/>
              <a:ext cx="7864474" cy="3200400"/>
            </a:xfrm>
            <a:custGeom>
              <a:avLst/>
              <a:gdLst/>
              <a:ahLst/>
              <a:cxnLst/>
              <a:rect l="l" t="t" r="r" b="b"/>
              <a:pathLst>
                <a:path w="7864474" h="3200400" extrusionOk="0">
                  <a:moveTo>
                    <a:pt x="0" y="0"/>
                  </a:moveTo>
                  <a:lnTo>
                    <a:pt x="7864474" y="0"/>
                  </a:lnTo>
                  <a:lnTo>
                    <a:pt x="7864474" y="3200400"/>
                  </a:lnTo>
                  <a:lnTo>
                    <a:pt x="0" y="3200400"/>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23"/>
            <p:cNvSpPr txBox="1"/>
            <p:nvPr/>
          </p:nvSpPr>
          <p:spPr>
            <a:xfrm>
              <a:off x="0" y="66675"/>
              <a:ext cx="7864474" cy="3133725"/>
            </a:xfrm>
            <a:prstGeom prst="rect">
              <a:avLst/>
            </a:prstGeom>
            <a:noFill/>
            <a:ln>
              <a:noFill/>
            </a:ln>
          </p:spPr>
          <p:txBody>
            <a:bodyPr spcFirstLastPara="1" wrap="square" lIns="0" tIns="0" rIns="0" bIns="0" anchor="b" anchorCtr="0">
              <a:noAutofit/>
            </a:bodyPr>
            <a:lstStyle/>
            <a:p>
              <a:pPr marL="0" marR="0" lvl="0" indent="0" algn="l" rtl="0">
                <a:lnSpc>
                  <a:spcPct val="107995"/>
                </a:lnSpc>
                <a:spcBef>
                  <a:spcPts val="0"/>
                </a:spcBef>
                <a:spcAft>
                  <a:spcPts val="0"/>
                </a:spcAft>
                <a:buNone/>
              </a:pPr>
              <a:r>
                <a:rPr lang="en-US" sz="5328">
                  <a:solidFill>
                    <a:srgbClr val="000000"/>
                  </a:solidFill>
                  <a:latin typeface="Georgia"/>
                  <a:ea typeface="Georgia"/>
                  <a:cs typeface="Georgia"/>
                  <a:sym typeface="Georgia"/>
                </a:rPr>
                <a:t>Estructuración</a:t>
              </a:r>
              <a:endParaRPr sz="4800">
                <a:solidFill>
                  <a:srgbClr val="000000"/>
                </a:solidFill>
                <a:latin typeface="Georgia"/>
                <a:ea typeface="Georgia"/>
                <a:cs typeface="Georgia"/>
                <a:sym typeface="Georgia"/>
              </a:endParaRPr>
            </a:p>
          </p:txBody>
        </p:sp>
      </p:grpSp>
      <p:sp>
        <p:nvSpPr>
          <p:cNvPr id="223" name="Google Shape;223;p23"/>
          <p:cNvSpPr/>
          <p:nvPr/>
        </p:nvSpPr>
        <p:spPr>
          <a:xfrm>
            <a:off x="10420000" y="1499702"/>
            <a:ext cx="6583680" cy="3195185"/>
          </a:xfrm>
          <a:custGeom>
            <a:avLst/>
            <a:gdLst/>
            <a:ahLst/>
            <a:cxnLst/>
            <a:rect l="l" t="t" r="r" b="b"/>
            <a:pathLst>
              <a:path w="12344400" h="5990971" extrusionOk="0">
                <a:moveTo>
                  <a:pt x="0" y="0"/>
                </a:moveTo>
                <a:lnTo>
                  <a:pt x="12344400" y="0"/>
                </a:lnTo>
                <a:lnTo>
                  <a:pt x="12344400" y="5990971"/>
                </a:lnTo>
                <a:lnTo>
                  <a:pt x="0" y="599097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7"/>
        <p:cNvGrpSpPr/>
        <p:nvPr/>
      </p:nvGrpSpPr>
      <p:grpSpPr>
        <a:xfrm>
          <a:off x="0" y="0"/>
          <a:ext cx="0" cy="0"/>
          <a:chOff x="0" y="0"/>
          <a:chExt cx="0" cy="0"/>
        </a:xfrm>
      </p:grpSpPr>
      <p:sp>
        <p:nvSpPr>
          <p:cNvPr id="228" name="Google Shape;228;p24"/>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24"/>
          <p:cNvSpPr txBox="1"/>
          <p:nvPr/>
        </p:nvSpPr>
        <p:spPr>
          <a:xfrm>
            <a:off x="967597" y="2194560"/>
            <a:ext cx="5694459" cy="4036423"/>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lnSpc>
                <a:spcPct val="90000"/>
              </a:lnSpc>
              <a:spcBef>
                <a:spcPts val="0"/>
              </a:spcBef>
              <a:spcAft>
                <a:spcPts val="0"/>
              </a:spcAft>
              <a:buNone/>
            </a:pPr>
            <a:r>
              <a:rPr lang="en-US" sz="5600">
                <a:solidFill>
                  <a:schemeClr val="dk1"/>
                </a:solidFill>
                <a:latin typeface="Georgia"/>
                <a:ea typeface="Georgia"/>
                <a:cs typeface="Georgia"/>
                <a:sym typeface="Georgia"/>
              </a:rPr>
              <a:t>RELACIONADO CON SEGMENTACIÓN DEMOGRÁFICA Y GEOGRÁFICA</a:t>
            </a:r>
            <a:endParaRPr>
              <a:latin typeface="Georgia"/>
              <a:ea typeface="Georgia"/>
              <a:cs typeface="Georgia"/>
              <a:sym typeface="Georgia"/>
            </a:endParaRPr>
          </a:p>
          <a:p>
            <a:pPr marL="0" marR="0" lvl="0" indent="0" algn="l" rtl="0">
              <a:lnSpc>
                <a:spcPct val="90000"/>
              </a:lnSpc>
              <a:spcBef>
                <a:spcPts val="600"/>
              </a:spcBef>
              <a:spcAft>
                <a:spcPts val="0"/>
              </a:spcAft>
              <a:buNone/>
            </a:pPr>
            <a:endParaRPr sz="5600">
              <a:solidFill>
                <a:schemeClr val="dk1"/>
              </a:solidFill>
              <a:latin typeface="Georgia"/>
              <a:ea typeface="Georgia"/>
              <a:cs typeface="Georgia"/>
              <a:sym typeface="Georgia"/>
            </a:endParaRPr>
          </a:p>
        </p:txBody>
      </p:sp>
      <p:grpSp>
        <p:nvGrpSpPr>
          <p:cNvPr id="230" name="Google Shape;230;p24"/>
          <p:cNvGrpSpPr/>
          <p:nvPr/>
        </p:nvGrpSpPr>
        <p:grpSpPr>
          <a:xfrm>
            <a:off x="314500" y="6622869"/>
            <a:ext cx="17973499" cy="3131692"/>
            <a:chOff x="143163" y="5763486"/>
            <a:chExt cx="11982332" cy="739555"/>
          </a:xfrm>
        </p:grpSpPr>
        <p:sp>
          <p:nvSpPr>
            <p:cNvPr id="231" name="Google Shape;231;p24"/>
            <p:cNvSpPr/>
            <p:nvPr/>
          </p:nvSpPr>
          <p:spPr>
            <a:xfrm rot="10800000">
              <a:off x="357444" y="5763486"/>
              <a:ext cx="11768051" cy="73955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32" name="Google Shape;232;p24"/>
            <p:cNvCxnSpPr/>
            <p:nvPr/>
          </p:nvCxnSpPr>
          <p:spPr>
            <a:xfrm flipH="1">
              <a:off x="143163" y="5763486"/>
              <a:ext cx="1" cy="739555"/>
            </a:xfrm>
            <a:prstGeom prst="straightConnector1">
              <a:avLst/>
            </a:prstGeom>
            <a:noFill/>
            <a:ln w="177800" cap="flat" cmpd="sng">
              <a:solidFill>
                <a:schemeClr val="accent4"/>
              </a:solidFill>
              <a:prstDash val="solid"/>
              <a:round/>
              <a:headEnd type="none" w="sm" len="sm"/>
              <a:tailEnd type="none" w="sm" len="sm"/>
            </a:ln>
          </p:spPr>
        </p:cxnSp>
      </p:grpSp>
      <p:sp>
        <p:nvSpPr>
          <p:cNvPr id="233" name="Google Shape;233;p24"/>
          <p:cNvSpPr/>
          <p:nvPr/>
        </p:nvSpPr>
        <p:spPr>
          <a:xfrm>
            <a:off x="7700559" y="881743"/>
            <a:ext cx="9757950" cy="852351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34" name="Google Shape;234;p24"/>
          <p:cNvGrpSpPr/>
          <p:nvPr/>
        </p:nvGrpSpPr>
        <p:grpSpPr>
          <a:xfrm>
            <a:off x="8111557" y="4042519"/>
            <a:ext cx="8944080" cy="2426406"/>
            <a:chOff x="0" y="0"/>
            <a:chExt cx="21031200" cy="5705474"/>
          </a:xfrm>
        </p:grpSpPr>
        <p:sp>
          <p:nvSpPr>
            <p:cNvPr id="235" name="Google Shape;235;p24"/>
            <p:cNvSpPr/>
            <p:nvPr/>
          </p:nvSpPr>
          <p:spPr>
            <a:xfrm>
              <a:off x="0" y="0"/>
              <a:ext cx="21031200" cy="5705474"/>
            </a:xfrm>
            <a:custGeom>
              <a:avLst/>
              <a:gdLst/>
              <a:ahLst/>
              <a:cxnLst/>
              <a:rect l="l" t="t" r="r" b="b"/>
              <a:pathLst>
                <a:path w="21031200" h="5705474" extrusionOk="0">
                  <a:moveTo>
                    <a:pt x="0" y="0"/>
                  </a:moveTo>
                  <a:lnTo>
                    <a:pt x="21031200" y="0"/>
                  </a:lnTo>
                  <a:lnTo>
                    <a:pt x="21031200" y="5705474"/>
                  </a:lnTo>
                  <a:lnTo>
                    <a:pt x="0" y="570547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24"/>
            <p:cNvSpPr txBox="1"/>
            <p:nvPr/>
          </p:nvSpPr>
          <p:spPr>
            <a:xfrm>
              <a:off x="0" y="104775"/>
              <a:ext cx="21031200" cy="5600699"/>
            </a:xfrm>
            <a:prstGeom prst="rect">
              <a:avLst/>
            </a:prstGeom>
            <a:noFill/>
            <a:ln>
              <a:noFill/>
            </a:ln>
          </p:spPr>
          <p:txBody>
            <a:bodyPr spcFirstLastPara="1" wrap="square" lIns="0" tIns="0" rIns="0" bIns="0" anchor="b" anchorCtr="0">
              <a:noAutofit/>
            </a:bodyPr>
            <a:lstStyle/>
            <a:p>
              <a:pPr marL="0" marR="0" lvl="0" indent="0" algn="l" rtl="0">
                <a:lnSpc>
                  <a:spcPct val="107996"/>
                </a:lnSpc>
                <a:spcBef>
                  <a:spcPts val="0"/>
                </a:spcBef>
                <a:spcAft>
                  <a:spcPts val="0"/>
                </a:spcAft>
                <a:buNone/>
              </a:pPr>
              <a:r>
                <a:rPr lang="en-US" sz="5040">
                  <a:solidFill>
                    <a:srgbClr val="000000"/>
                  </a:solidFill>
                  <a:latin typeface="Georgia"/>
                  <a:ea typeface="Georgia"/>
                  <a:cs typeface="Georgia"/>
                  <a:sym typeface="Georgia"/>
                </a:rPr>
                <a:t>Visualizaciones generales </a:t>
              </a:r>
              <a:endParaRPr sz="9000">
                <a:solidFill>
                  <a:srgbClr val="000000"/>
                </a:solidFill>
                <a:latin typeface="Georgia"/>
                <a:ea typeface="Georgia"/>
                <a:cs typeface="Georgia"/>
                <a:sym typeface="Georgi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5"/>
          <p:cNvSpPr/>
          <p:nvPr/>
        </p:nvSpPr>
        <p:spPr>
          <a:xfrm>
            <a:off x="8454585" y="6309458"/>
            <a:ext cx="4982623" cy="3909536"/>
          </a:xfrm>
          <a:custGeom>
            <a:avLst/>
            <a:gdLst/>
            <a:ahLst/>
            <a:cxnLst/>
            <a:rect l="l" t="t" r="r" b="b"/>
            <a:pathLst>
              <a:path w="6643497" h="5212715" extrusionOk="0">
                <a:moveTo>
                  <a:pt x="0" y="0"/>
                </a:moveTo>
                <a:lnTo>
                  <a:pt x="6643497" y="0"/>
                </a:lnTo>
                <a:lnTo>
                  <a:pt x="6643497" y="5212715"/>
                </a:lnTo>
                <a:lnTo>
                  <a:pt x="0" y="5212715"/>
                </a:lnTo>
                <a:lnTo>
                  <a:pt x="0" y="0"/>
                </a:lnTo>
                <a:close/>
              </a:path>
            </a:pathLst>
          </a:custGeom>
          <a:blipFill rotWithShape="1">
            <a:blip r:embed="rId3">
              <a:alphaModFix/>
            </a:blip>
            <a:stretch>
              <a:fillRect l="-211129" t="-117126" b="-1443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25"/>
          <p:cNvSpPr/>
          <p:nvPr/>
        </p:nvSpPr>
        <p:spPr>
          <a:xfrm>
            <a:off x="3019324" y="6071283"/>
            <a:ext cx="4974146" cy="4154710"/>
          </a:xfrm>
          <a:custGeom>
            <a:avLst/>
            <a:gdLst/>
            <a:ahLst/>
            <a:cxnLst/>
            <a:rect l="l" t="t" r="r" b="b"/>
            <a:pathLst>
              <a:path w="6632194" h="5539613" extrusionOk="0">
                <a:moveTo>
                  <a:pt x="0" y="0"/>
                </a:moveTo>
                <a:lnTo>
                  <a:pt x="6632194" y="0"/>
                </a:lnTo>
                <a:lnTo>
                  <a:pt x="6632194" y="5539613"/>
                </a:lnTo>
                <a:lnTo>
                  <a:pt x="0" y="5539613"/>
                </a:lnTo>
                <a:lnTo>
                  <a:pt x="0" y="0"/>
                </a:lnTo>
                <a:close/>
              </a:path>
            </a:pathLst>
          </a:custGeom>
          <a:blipFill rotWithShape="1">
            <a:blip r:embed="rId3">
              <a:alphaModFix/>
            </a:blip>
            <a:stretch>
              <a:fillRect l="1810" t="-114437" r="-229185" b="-1443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43" name="Google Shape;243;p25"/>
          <p:cNvGrpSpPr/>
          <p:nvPr/>
        </p:nvGrpSpPr>
        <p:grpSpPr>
          <a:xfrm>
            <a:off x="1257300" y="56455"/>
            <a:ext cx="15773400" cy="1988345"/>
            <a:chOff x="0" y="-654978"/>
            <a:chExt cx="21031200" cy="2651126"/>
          </a:xfrm>
        </p:grpSpPr>
        <p:sp>
          <p:nvSpPr>
            <p:cNvPr id="244" name="Google Shape;244;p25"/>
            <p:cNvSpPr/>
            <p:nvPr/>
          </p:nvSpPr>
          <p:spPr>
            <a:xfrm>
              <a:off x="0" y="-654978"/>
              <a:ext cx="21031200" cy="2651126"/>
            </a:xfrm>
            <a:custGeom>
              <a:avLst/>
              <a:gdLst/>
              <a:ahLst/>
              <a:cxnLst/>
              <a:rect l="l" t="t" r="r" b="b"/>
              <a:pathLst>
                <a:path w="21031200" h="2651126" extrusionOk="0">
                  <a:moveTo>
                    <a:pt x="0" y="0"/>
                  </a:moveTo>
                  <a:lnTo>
                    <a:pt x="21031200" y="0"/>
                  </a:lnTo>
                  <a:lnTo>
                    <a:pt x="21031200" y="2651126"/>
                  </a:lnTo>
                  <a:lnTo>
                    <a:pt x="0" y="2651126"/>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25"/>
            <p:cNvSpPr txBox="1"/>
            <p:nvPr/>
          </p:nvSpPr>
          <p:spPr>
            <a:xfrm>
              <a:off x="0" y="-621675"/>
              <a:ext cx="21031200" cy="2584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6600">
                  <a:solidFill>
                    <a:srgbClr val="000000"/>
                  </a:solidFill>
                  <a:latin typeface="Georgia"/>
                  <a:ea typeface="Georgia"/>
                  <a:cs typeface="Georgia"/>
                  <a:sym typeface="Georgia"/>
                </a:rPr>
                <a:t>Distribuciones básicas </a:t>
              </a:r>
              <a:endParaRPr>
                <a:latin typeface="Georgia"/>
                <a:ea typeface="Georgia"/>
                <a:cs typeface="Georgia"/>
                <a:sym typeface="Georgia"/>
              </a:endParaRPr>
            </a:p>
          </p:txBody>
        </p:sp>
      </p:grpSp>
      <p:sp>
        <p:nvSpPr>
          <p:cNvPr id="246" name="Google Shape;246;p25"/>
          <p:cNvSpPr/>
          <p:nvPr/>
        </p:nvSpPr>
        <p:spPr>
          <a:xfrm>
            <a:off x="11490537" y="2046158"/>
            <a:ext cx="5819489" cy="3909536"/>
          </a:xfrm>
          <a:custGeom>
            <a:avLst/>
            <a:gdLst/>
            <a:ahLst/>
            <a:cxnLst/>
            <a:rect l="l" t="t" r="r" b="b"/>
            <a:pathLst>
              <a:path w="7759319" h="5212715" extrusionOk="0">
                <a:moveTo>
                  <a:pt x="0" y="0"/>
                </a:moveTo>
                <a:lnTo>
                  <a:pt x="7759319" y="0"/>
                </a:lnTo>
                <a:lnTo>
                  <a:pt x="7759319" y="5212715"/>
                </a:lnTo>
                <a:lnTo>
                  <a:pt x="0" y="5212715"/>
                </a:lnTo>
                <a:lnTo>
                  <a:pt x="0" y="0"/>
                </a:lnTo>
                <a:close/>
              </a:path>
            </a:pathLst>
          </a:custGeom>
          <a:blipFill rotWithShape="1">
            <a:blip r:embed="rId3">
              <a:alphaModFix/>
            </a:blip>
            <a:stretch>
              <a:fillRect l="-76651" t="-117126" r="-89730" b="-1443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25" descr="Gráfico, Gráfico circular  El contenido generado por IA puede ser incorrecto."/>
          <p:cNvSpPr/>
          <p:nvPr/>
        </p:nvSpPr>
        <p:spPr>
          <a:xfrm>
            <a:off x="6749117" y="1891972"/>
            <a:ext cx="4277773" cy="4063746"/>
          </a:xfrm>
          <a:custGeom>
            <a:avLst/>
            <a:gdLst/>
            <a:ahLst/>
            <a:cxnLst/>
            <a:rect l="l" t="t" r="r" b="b"/>
            <a:pathLst>
              <a:path w="5703697" h="5418328" extrusionOk="0">
                <a:moveTo>
                  <a:pt x="0" y="0"/>
                </a:moveTo>
                <a:lnTo>
                  <a:pt x="5703697" y="0"/>
                </a:lnTo>
                <a:lnTo>
                  <a:pt x="5703697" y="5418328"/>
                </a:lnTo>
                <a:lnTo>
                  <a:pt x="0" y="5418328"/>
                </a:lnTo>
                <a:lnTo>
                  <a:pt x="0" y="0"/>
                </a:lnTo>
                <a:close/>
              </a:path>
            </a:pathLst>
          </a:custGeom>
          <a:blipFill rotWithShape="1">
            <a:blip r:embed="rId4">
              <a:alphaModFix/>
            </a:blip>
            <a:stretch>
              <a:fillRect l="430" t="-13473" r="-291697" b="-13965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25"/>
          <p:cNvSpPr/>
          <p:nvPr/>
        </p:nvSpPr>
        <p:spPr>
          <a:xfrm>
            <a:off x="1418558" y="1800975"/>
            <a:ext cx="4277773" cy="4154710"/>
          </a:xfrm>
          <a:custGeom>
            <a:avLst/>
            <a:gdLst/>
            <a:ahLst/>
            <a:cxnLst/>
            <a:rect l="l" t="t" r="r" b="b"/>
            <a:pathLst>
              <a:path w="5703697" h="5539613" extrusionOk="0">
                <a:moveTo>
                  <a:pt x="0" y="0"/>
                </a:moveTo>
                <a:lnTo>
                  <a:pt x="5703697" y="0"/>
                </a:lnTo>
                <a:lnTo>
                  <a:pt x="5703697" y="5539613"/>
                </a:lnTo>
                <a:lnTo>
                  <a:pt x="0" y="5539613"/>
                </a:lnTo>
                <a:lnTo>
                  <a:pt x="0" y="0"/>
                </a:lnTo>
                <a:close/>
              </a:path>
            </a:pathLst>
          </a:custGeom>
          <a:blipFill rotWithShape="1">
            <a:blip r:embed="rId3">
              <a:alphaModFix/>
            </a:blip>
            <a:stretch>
              <a:fillRect l="-14159" r="-266459" b="-12887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9" name="Google Shape;249;p25"/>
          <p:cNvSpPr/>
          <p:nvPr/>
        </p:nvSpPr>
        <p:spPr>
          <a:xfrm flipH="1">
            <a:off x="15774385" y="9312151"/>
            <a:ext cx="2241900" cy="1113600"/>
          </a:xfrm>
          <a:prstGeom prst="triangle">
            <a:avLst>
              <a:gd name="adj" fmla="val 50000"/>
            </a:avLst>
          </a:prstGeom>
          <a:solidFill>
            <a:schemeClr val="accent1">
              <a:alpha val="298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25"/>
          <p:cNvSpPr/>
          <p:nvPr/>
        </p:nvSpPr>
        <p:spPr>
          <a:xfrm flipH="1">
            <a:off x="14517885" y="9623301"/>
            <a:ext cx="2241900" cy="1113600"/>
          </a:xfrm>
          <a:prstGeom prst="triangle">
            <a:avLst>
              <a:gd name="adj" fmla="val 50000"/>
            </a:avLst>
          </a:prstGeom>
          <a:solidFill>
            <a:schemeClr val="accent1">
              <a:alpha val="298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25"/>
          <p:cNvSpPr/>
          <p:nvPr/>
        </p:nvSpPr>
        <p:spPr>
          <a:xfrm flipH="1">
            <a:off x="13638385" y="9855076"/>
            <a:ext cx="2241900" cy="1113600"/>
          </a:xfrm>
          <a:prstGeom prst="triangle">
            <a:avLst>
              <a:gd name="adj" fmla="val 50000"/>
            </a:avLst>
          </a:prstGeom>
          <a:solidFill>
            <a:schemeClr val="accent1">
              <a:alpha val="298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26"/>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26"/>
          <p:cNvSpPr/>
          <p:nvPr/>
        </p:nvSpPr>
        <p:spPr>
          <a:xfrm rot="-2700000" flipH="1">
            <a:off x="-564234" y="-380505"/>
            <a:ext cx="2741457" cy="2065483"/>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26"/>
          <p:cNvSpPr/>
          <p:nvPr/>
        </p:nvSpPr>
        <p:spPr>
          <a:xfrm rot="-2700000" flipH="1">
            <a:off x="1337461" y="633219"/>
            <a:ext cx="968052" cy="968052"/>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26"/>
          <p:cNvSpPr/>
          <p:nvPr/>
        </p:nvSpPr>
        <p:spPr>
          <a:xfrm rot="-2700000" flipH="1">
            <a:off x="15065223" y="982710"/>
            <a:ext cx="1031208" cy="103120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26"/>
          <p:cNvSpPr/>
          <p:nvPr/>
        </p:nvSpPr>
        <p:spPr>
          <a:xfrm rot="10800000" flipH="1">
            <a:off x="14034964" y="0"/>
            <a:ext cx="4253036" cy="2221255"/>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26"/>
          <p:cNvSpPr/>
          <p:nvPr/>
        </p:nvSpPr>
        <p:spPr>
          <a:xfrm flipH="1">
            <a:off x="11964516" y="9173251"/>
            <a:ext cx="2241769" cy="111374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26"/>
          <p:cNvSpPr/>
          <p:nvPr/>
        </p:nvSpPr>
        <p:spPr>
          <a:xfrm flipH="1">
            <a:off x="11406120" y="9679714"/>
            <a:ext cx="1222354" cy="607286"/>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26" descr="A graph with a bar chart  AI-generated content may be incorrect."/>
          <p:cNvSpPr/>
          <p:nvPr/>
        </p:nvSpPr>
        <p:spPr>
          <a:xfrm>
            <a:off x="2101146" y="965200"/>
            <a:ext cx="14085668" cy="8356597"/>
          </a:xfrm>
          <a:custGeom>
            <a:avLst/>
            <a:gdLst/>
            <a:ahLst/>
            <a:cxnLst/>
            <a:rect l="l" t="t" r="r" b="b"/>
            <a:pathLst>
              <a:path w="14669008" h="8702675" extrusionOk="0">
                <a:moveTo>
                  <a:pt x="0" y="0"/>
                </a:moveTo>
                <a:lnTo>
                  <a:pt x="14669008" y="0"/>
                </a:lnTo>
                <a:lnTo>
                  <a:pt x="14669008" y="8702675"/>
                </a:lnTo>
                <a:lnTo>
                  <a:pt x="0" y="8702675"/>
                </a:lnTo>
                <a:lnTo>
                  <a:pt x="0" y="0"/>
                </a:lnTo>
                <a:close/>
              </a:path>
            </a:pathLst>
          </a:custGeom>
          <a:blipFill rotWithShape="1">
            <a:blip r:embed="rId3">
              <a:alphaModFix/>
            </a:blip>
            <a:stretch>
              <a:fillRect t="-43" b="-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7"/>
        <p:cNvGrpSpPr/>
        <p:nvPr/>
      </p:nvGrpSpPr>
      <p:grpSpPr>
        <a:xfrm>
          <a:off x="0" y="0"/>
          <a:ext cx="0" cy="0"/>
          <a:chOff x="0" y="0"/>
          <a:chExt cx="0" cy="0"/>
        </a:xfrm>
      </p:grpSpPr>
      <p:sp>
        <p:nvSpPr>
          <p:cNvPr id="268" name="Google Shape;268;p27"/>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27"/>
          <p:cNvSpPr/>
          <p:nvPr/>
        </p:nvSpPr>
        <p:spPr>
          <a:xfrm rot="-2700000" flipH="1">
            <a:off x="-564234" y="-380505"/>
            <a:ext cx="2741457" cy="2065483"/>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p27"/>
          <p:cNvSpPr/>
          <p:nvPr/>
        </p:nvSpPr>
        <p:spPr>
          <a:xfrm rot="-2700000" flipH="1">
            <a:off x="1337461" y="633219"/>
            <a:ext cx="968052" cy="968052"/>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27"/>
          <p:cNvSpPr/>
          <p:nvPr/>
        </p:nvSpPr>
        <p:spPr>
          <a:xfrm rot="-2700000" flipH="1">
            <a:off x="15065223" y="982710"/>
            <a:ext cx="1031208" cy="103120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27"/>
          <p:cNvSpPr/>
          <p:nvPr/>
        </p:nvSpPr>
        <p:spPr>
          <a:xfrm rot="10800000" flipH="1">
            <a:off x="14034964" y="0"/>
            <a:ext cx="4253036" cy="2221255"/>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p27"/>
          <p:cNvSpPr/>
          <p:nvPr/>
        </p:nvSpPr>
        <p:spPr>
          <a:xfrm flipH="1">
            <a:off x="11964516" y="9173251"/>
            <a:ext cx="2241769" cy="111374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4" name="Google Shape;274;p27"/>
          <p:cNvSpPr/>
          <p:nvPr/>
        </p:nvSpPr>
        <p:spPr>
          <a:xfrm flipH="1">
            <a:off x="11406120" y="9679714"/>
            <a:ext cx="1222354" cy="607286"/>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27" descr="A graph with green bars  AI-generated content may be incorrect."/>
          <p:cNvSpPr/>
          <p:nvPr/>
        </p:nvSpPr>
        <p:spPr>
          <a:xfrm>
            <a:off x="1659288" y="2351750"/>
            <a:ext cx="14969426" cy="7614841"/>
          </a:xfrm>
          <a:custGeom>
            <a:avLst/>
            <a:gdLst/>
            <a:ahLst/>
            <a:cxnLst/>
            <a:rect l="l" t="t" r="r" b="b"/>
            <a:pathLst>
              <a:path w="17611089" h="8702675" extrusionOk="0">
                <a:moveTo>
                  <a:pt x="0" y="0"/>
                </a:moveTo>
                <a:lnTo>
                  <a:pt x="17611089" y="0"/>
                </a:lnTo>
                <a:lnTo>
                  <a:pt x="17611089" y="8702675"/>
                </a:lnTo>
                <a:lnTo>
                  <a:pt x="0" y="8702675"/>
                </a:lnTo>
                <a:lnTo>
                  <a:pt x="0" y="0"/>
                </a:lnTo>
                <a:close/>
              </a:path>
            </a:pathLst>
          </a:custGeom>
          <a:blipFill rotWithShape="1">
            <a:blip r:embed="rId3">
              <a:alphaModFix/>
            </a:blip>
            <a:stretch>
              <a:fillRect t="-15" b="-1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27"/>
          <p:cNvSpPr txBox="1"/>
          <p:nvPr/>
        </p:nvSpPr>
        <p:spPr>
          <a:xfrm>
            <a:off x="4887463" y="581300"/>
            <a:ext cx="8513100" cy="1368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a:solidFill>
                  <a:schemeClr val="dk1"/>
                </a:solidFill>
                <a:latin typeface="Georgia"/>
                <a:ea typeface="Georgia"/>
                <a:cs typeface="Georgia"/>
                <a:sym typeface="Georgia"/>
              </a:rPr>
              <a:t>Se buscaba identificar en que UPZ se concentra la mayor presencia de los NNA intervenidos </a:t>
            </a:r>
            <a:endParaRPr sz="3200">
              <a:solidFill>
                <a:schemeClr val="dk1"/>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28"/>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28"/>
          <p:cNvSpPr/>
          <p:nvPr/>
        </p:nvSpPr>
        <p:spPr>
          <a:xfrm rot="-2700000" flipH="1">
            <a:off x="-564234" y="-380505"/>
            <a:ext cx="2741457" cy="2065483"/>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3" name="Google Shape;283;p28"/>
          <p:cNvSpPr/>
          <p:nvPr/>
        </p:nvSpPr>
        <p:spPr>
          <a:xfrm rot="-2700000" flipH="1">
            <a:off x="1337461" y="633219"/>
            <a:ext cx="968052" cy="968052"/>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4" name="Google Shape;284;p28"/>
          <p:cNvSpPr/>
          <p:nvPr/>
        </p:nvSpPr>
        <p:spPr>
          <a:xfrm rot="-2700000" flipH="1">
            <a:off x="15065223" y="982710"/>
            <a:ext cx="1031208" cy="103120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 name="Google Shape;285;p28"/>
          <p:cNvSpPr/>
          <p:nvPr/>
        </p:nvSpPr>
        <p:spPr>
          <a:xfrm rot="10800000" flipH="1">
            <a:off x="14034964" y="0"/>
            <a:ext cx="4253036" cy="2221255"/>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6" name="Google Shape;286;p28"/>
          <p:cNvSpPr/>
          <p:nvPr/>
        </p:nvSpPr>
        <p:spPr>
          <a:xfrm flipH="1">
            <a:off x="11964516" y="9173251"/>
            <a:ext cx="2241769" cy="111374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28"/>
          <p:cNvSpPr/>
          <p:nvPr/>
        </p:nvSpPr>
        <p:spPr>
          <a:xfrm flipH="1">
            <a:off x="11406120" y="9679714"/>
            <a:ext cx="1222354" cy="607286"/>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28" descr="A chart with numbers and a number of different colors  AI-generated content may be incorrect."/>
          <p:cNvSpPr/>
          <p:nvPr/>
        </p:nvSpPr>
        <p:spPr>
          <a:xfrm>
            <a:off x="1408234" y="965200"/>
            <a:ext cx="15467748" cy="8354568"/>
          </a:xfrm>
          <a:custGeom>
            <a:avLst/>
            <a:gdLst/>
            <a:ahLst/>
            <a:cxnLst/>
            <a:rect l="l" t="t" r="r" b="b"/>
            <a:pathLst>
              <a:path w="16112237" h="8702675" extrusionOk="0">
                <a:moveTo>
                  <a:pt x="0" y="0"/>
                </a:moveTo>
                <a:lnTo>
                  <a:pt x="16112237" y="0"/>
                </a:lnTo>
                <a:lnTo>
                  <a:pt x="16112237" y="8702675"/>
                </a:lnTo>
                <a:lnTo>
                  <a:pt x="0" y="8702675"/>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9" name="Google Shape;289;p28"/>
          <p:cNvSpPr txBox="1"/>
          <p:nvPr/>
        </p:nvSpPr>
        <p:spPr>
          <a:xfrm>
            <a:off x="1781275" y="8052925"/>
            <a:ext cx="5079900" cy="172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Georgia"/>
                <a:ea typeface="Georgia"/>
                <a:cs typeface="Georgia"/>
                <a:sym typeface="Georgia"/>
              </a:rPr>
              <a:t>Buscábamos ubicar en qué localidades se concentra cada régimen</a:t>
            </a:r>
            <a:endParaRPr sz="3200">
              <a:solidFill>
                <a:schemeClr val="dk1"/>
              </a:solidFill>
              <a:latin typeface="Georgia"/>
              <a:ea typeface="Georgia"/>
              <a:cs typeface="Georgia"/>
              <a:sym typeface="Georg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3"/>
        <p:cNvGrpSpPr/>
        <p:nvPr/>
      </p:nvGrpSpPr>
      <p:grpSpPr>
        <a:xfrm>
          <a:off x="0" y="0"/>
          <a:ext cx="0" cy="0"/>
          <a:chOff x="0" y="0"/>
          <a:chExt cx="0" cy="0"/>
        </a:xfrm>
      </p:grpSpPr>
      <p:sp>
        <p:nvSpPr>
          <p:cNvPr id="294" name="Google Shape;294;p29"/>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en qué lugares trabajan principalmente los NNA según la localidad</a:t>
            </a:r>
            <a:endParaRPr sz="1800">
              <a:solidFill>
                <a:schemeClr val="lt1"/>
              </a:solidFill>
              <a:latin typeface="Calibri"/>
              <a:ea typeface="Calibri"/>
              <a:cs typeface="Calibri"/>
              <a:sym typeface="Calibri"/>
            </a:endParaRPr>
          </a:p>
        </p:txBody>
      </p:sp>
      <p:sp>
        <p:nvSpPr>
          <p:cNvPr id="295" name="Google Shape;295;p29"/>
          <p:cNvSpPr/>
          <p:nvPr/>
        </p:nvSpPr>
        <p:spPr>
          <a:xfrm rot="-2700000" flipH="1">
            <a:off x="-564234" y="-380505"/>
            <a:ext cx="2741457" cy="2065483"/>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29"/>
          <p:cNvSpPr/>
          <p:nvPr/>
        </p:nvSpPr>
        <p:spPr>
          <a:xfrm rot="-2700000" flipH="1">
            <a:off x="1337461" y="633219"/>
            <a:ext cx="968052" cy="968052"/>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29"/>
          <p:cNvSpPr/>
          <p:nvPr/>
        </p:nvSpPr>
        <p:spPr>
          <a:xfrm rot="-2700000" flipH="1">
            <a:off x="15065223" y="982710"/>
            <a:ext cx="1031208" cy="103120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29"/>
          <p:cNvSpPr/>
          <p:nvPr/>
        </p:nvSpPr>
        <p:spPr>
          <a:xfrm rot="10800000" flipH="1">
            <a:off x="14034964" y="0"/>
            <a:ext cx="4253036" cy="2221255"/>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29"/>
          <p:cNvSpPr/>
          <p:nvPr/>
        </p:nvSpPr>
        <p:spPr>
          <a:xfrm flipH="1">
            <a:off x="11964516" y="9173251"/>
            <a:ext cx="2241769" cy="111374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29"/>
          <p:cNvSpPr/>
          <p:nvPr/>
        </p:nvSpPr>
        <p:spPr>
          <a:xfrm flipH="1">
            <a:off x="11406120" y="9679714"/>
            <a:ext cx="1222354" cy="607286"/>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29" descr="A table with numbers and text  AI-generated content may be incorrect."/>
          <p:cNvSpPr/>
          <p:nvPr/>
        </p:nvSpPr>
        <p:spPr>
          <a:xfrm>
            <a:off x="1399824" y="965200"/>
            <a:ext cx="15488333" cy="8356597"/>
          </a:xfrm>
          <a:custGeom>
            <a:avLst/>
            <a:gdLst/>
            <a:ahLst/>
            <a:cxnLst/>
            <a:rect l="l" t="t" r="r" b="b"/>
            <a:pathLst>
              <a:path w="16129763" h="8702675" extrusionOk="0">
                <a:moveTo>
                  <a:pt x="0" y="0"/>
                </a:moveTo>
                <a:lnTo>
                  <a:pt x="16129763" y="0"/>
                </a:lnTo>
                <a:lnTo>
                  <a:pt x="16129763" y="8702675"/>
                </a:lnTo>
                <a:lnTo>
                  <a:pt x="0" y="8702675"/>
                </a:lnTo>
                <a:lnTo>
                  <a:pt x="0" y="0"/>
                </a:lnTo>
                <a:close/>
              </a:path>
            </a:pathLst>
          </a:custGeom>
          <a:blipFill rotWithShape="1">
            <a:blip r:embed="rId3">
              <a:alphaModFix/>
            </a:blip>
            <a:stretch>
              <a:fillRect t="-77" b="-7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29"/>
          <p:cNvSpPr txBox="1"/>
          <p:nvPr/>
        </p:nvSpPr>
        <p:spPr>
          <a:xfrm>
            <a:off x="696025" y="8275700"/>
            <a:ext cx="5060100" cy="179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Georgia"/>
                <a:ea typeface="Georgia"/>
                <a:cs typeface="Georgia"/>
                <a:sym typeface="Georgia"/>
              </a:rPr>
              <a:t>Observar en qué lugares trabajan principalmente los NNA según la localidad</a:t>
            </a:r>
            <a:endParaRPr sz="3200">
              <a:solidFill>
                <a:schemeClr val="dk1"/>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6"/>
        <p:cNvGrpSpPr/>
        <p:nvPr/>
      </p:nvGrpSpPr>
      <p:grpSpPr>
        <a:xfrm>
          <a:off x="0" y="0"/>
          <a:ext cx="0" cy="0"/>
          <a:chOff x="0" y="0"/>
          <a:chExt cx="0" cy="0"/>
        </a:xfrm>
      </p:grpSpPr>
      <p:sp>
        <p:nvSpPr>
          <p:cNvPr id="307" name="Google Shape;307;p30"/>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30"/>
          <p:cNvSpPr txBox="1"/>
          <p:nvPr/>
        </p:nvSpPr>
        <p:spPr>
          <a:xfrm>
            <a:off x="967597" y="2194560"/>
            <a:ext cx="5694459" cy="4036423"/>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en-US" sz="7200">
                <a:solidFill>
                  <a:schemeClr val="dk1"/>
                </a:solidFill>
                <a:latin typeface="Georgia"/>
                <a:ea typeface="Georgia"/>
                <a:cs typeface="Georgia"/>
                <a:sym typeface="Georgia"/>
              </a:rPr>
              <a:t>Con relación a el Estado Resultado </a:t>
            </a:r>
            <a:endParaRPr>
              <a:latin typeface="Georgia"/>
              <a:ea typeface="Georgia"/>
              <a:cs typeface="Georgia"/>
              <a:sym typeface="Georgia"/>
            </a:endParaRPr>
          </a:p>
        </p:txBody>
      </p:sp>
      <p:grpSp>
        <p:nvGrpSpPr>
          <p:cNvPr id="309" name="Google Shape;309;p30"/>
          <p:cNvGrpSpPr/>
          <p:nvPr/>
        </p:nvGrpSpPr>
        <p:grpSpPr>
          <a:xfrm>
            <a:off x="314500" y="6622869"/>
            <a:ext cx="17973499" cy="3131692"/>
            <a:chOff x="143163" y="5763486"/>
            <a:chExt cx="11982332" cy="739555"/>
          </a:xfrm>
        </p:grpSpPr>
        <p:sp>
          <p:nvSpPr>
            <p:cNvPr id="310" name="Google Shape;310;p30"/>
            <p:cNvSpPr/>
            <p:nvPr/>
          </p:nvSpPr>
          <p:spPr>
            <a:xfrm rot="10800000">
              <a:off x="357444" y="5763486"/>
              <a:ext cx="11768051" cy="73955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11" name="Google Shape;311;p30"/>
            <p:cNvCxnSpPr/>
            <p:nvPr/>
          </p:nvCxnSpPr>
          <p:spPr>
            <a:xfrm flipH="1">
              <a:off x="143163" y="5763486"/>
              <a:ext cx="1" cy="739555"/>
            </a:xfrm>
            <a:prstGeom prst="straightConnector1">
              <a:avLst/>
            </a:prstGeom>
            <a:noFill/>
            <a:ln w="177800" cap="flat" cmpd="sng">
              <a:solidFill>
                <a:schemeClr val="accent4"/>
              </a:solidFill>
              <a:prstDash val="solid"/>
              <a:round/>
              <a:headEnd type="none" w="sm" len="sm"/>
              <a:tailEnd type="none" w="sm" len="sm"/>
            </a:ln>
          </p:spPr>
        </p:cxnSp>
      </p:grpSp>
      <p:sp>
        <p:nvSpPr>
          <p:cNvPr id="312" name="Google Shape;312;p30"/>
          <p:cNvSpPr/>
          <p:nvPr/>
        </p:nvSpPr>
        <p:spPr>
          <a:xfrm>
            <a:off x="7700559" y="881743"/>
            <a:ext cx="9757950" cy="852351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13" name="Google Shape;313;p30"/>
          <p:cNvGrpSpPr/>
          <p:nvPr/>
        </p:nvGrpSpPr>
        <p:grpSpPr>
          <a:xfrm>
            <a:off x="8111557" y="4042519"/>
            <a:ext cx="8944080" cy="2426406"/>
            <a:chOff x="0" y="0"/>
            <a:chExt cx="21031200" cy="5705474"/>
          </a:xfrm>
        </p:grpSpPr>
        <p:sp>
          <p:nvSpPr>
            <p:cNvPr id="314" name="Google Shape;314;p30"/>
            <p:cNvSpPr/>
            <p:nvPr/>
          </p:nvSpPr>
          <p:spPr>
            <a:xfrm>
              <a:off x="0" y="0"/>
              <a:ext cx="21031200" cy="5705474"/>
            </a:xfrm>
            <a:custGeom>
              <a:avLst/>
              <a:gdLst/>
              <a:ahLst/>
              <a:cxnLst/>
              <a:rect l="l" t="t" r="r" b="b"/>
              <a:pathLst>
                <a:path w="21031200" h="5705474" extrusionOk="0">
                  <a:moveTo>
                    <a:pt x="0" y="0"/>
                  </a:moveTo>
                  <a:lnTo>
                    <a:pt x="21031200" y="0"/>
                  </a:lnTo>
                  <a:lnTo>
                    <a:pt x="21031200" y="5705474"/>
                  </a:lnTo>
                  <a:lnTo>
                    <a:pt x="0" y="5705474"/>
                  </a:lnTo>
                  <a:close/>
                </a:path>
              </a:pathLst>
            </a:custGeom>
            <a:solidFill>
              <a:srgbClr val="000000">
                <a:alpha val="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30"/>
            <p:cNvSpPr txBox="1"/>
            <p:nvPr/>
          </p:nvSpPr>
          <p:spPr>
            <a:xfrm>
              <a:off x="0" y="104775"/>
              <a:ext cx="21031200" cy="5600699"/>
            </a:xfrm>
            <a:prstGeom prst="rect">
              <a:avLst/>
            </a:prstGeom>
            <a:noFill/>
            <a:ln>
              <a:noFill/>
            </a:ln>
          </p:spPr>
          <p:txBody>
            <a:bodyPr spcFirstLastPara="1" wrap="square" lIns="0" tIns="0" rIns="0" bIns="0" anchor="b" anchorCtr="0">
              <a:noAutofit/>
            </a:bodyPr>
            <a:lstStyle/>
            <a:p>
              <a:pPr marL="0" marR="0" lvl="0" indent="0" algn="l" rtl="0">
                <a:lnSpc>
                  <a:spcPct val="107996"/>
                </a:lnSpc>
                <a:spcBef>
                  <a:spcPts val="0"/>
                </a:spcBef>
                <a:spcAft>
                  <a:spcPts val="0"/>
                </a:spcAft>
                <a:buNone/>
              </a:pPr>
              <a:r>
                <a:rPr lang="en-US" sz="5040">
                  <a:solidFill>
                    <a:srgbClr val="000000"/>
                  </a:solidFill>
                  <a:latin typeface="Georgia"/>
                  <a:ea typeface="Georgia"/>
                  <a:cs typeface="Georgia"/>
                  <a:sym typeface="Georgia"/>
                </a:rPr>
                <a:t>Visualizaciones </a:t>
              </a:r>
              <a:endParaRPr sz="9000">
                <a:solidFill>
                  <a:srgbClr val="000000"/>
                </a:solidFill>
                <a:latin typeface="Georgia"/>
                <a:ea typeface="Georgia"/>
                <a:cs typeface="Georgia"/>
                <a:sym typeface="Georgia"/>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9"/>
        <p:cNvGrpSpPr/>
        <p:nvPr/>
      </p:nvGrpSpPr>
      <p:grpSpPr>
        <a:xfrm>
          <a:off x="0" y="0"/>
          <a:ext cx="0" cy="0"/>
          <a:chOff x="0" y="0"/>
          <a:chExt cx="0" cy="0"/>
        </a:xfrm>
      </p:grpSpPr>
      <p:sp>
        <p:nvSpPr>
          <p:cNvPr id="320" name="Google Shape;320;p31"/>
          <p:cNvSpPr/>
          <p:nvPr/>
        </p:nvSpPr>
        <p:spPr>
          <a:xfrm>
            <a:off x="0" y="0"/>
            <a:ext cx="18283428"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31"/>
          <p:cNvSpPr/>
          <p:nvPr/>
        </p:nvSpPr>
        <p:spPr>
          <a:xfrm flipH="1">
            <a:off x="0" y="0"/>
            <a:ext cx="8944177" cy="10287000"/>
          </a:xfrm>
          <a:custGeom>
            <a:avLst/>
            <a:gdLst/>
            <a:ahLst/>
            <a:cxnLst/>
            <a:rect l="l" t="t" r="r" b="b"/>
            <a:pathLst>
              <a:path w="5962785" h="6858000" extrusionOk="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lt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2" name="Google Shape;322;p31"/>
          <p:cNvSpPr txBox="1"/>
          <p:nvPr/>
        </p:nvSpPr>
        <p:spPr>
          <a:xfrm>
            <a:off x="1257301" y="3935071"/>
            <a:ext cx="5832792" cy="5330372"/>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dk1"/>
              </a:buClr>
              <a:buSzPts val="2600"/>
              <a:buFont typeface="Arial"/>
              <a:buChar char="•"/>
            </a:pPr>
            <a:r>
              <a:rPr lang="en-US" sz="2600" b="1">
                <a:solidFill>
                  <a:schemeClr val="dk1"/>
                </a:solidFill>
                <a:latin typeface="Georgia"/>
                <a:ea typeface="Georgia"/>
                <a:cs typeface="Georgia"/>
                <a:sym typeface="Georgia"/>
              </a:rPr>
              <a:t>RANGO_EDAD:</a:t>
            </a:r>
            <a:r>
              <a:rPr lang="en-US" sz="2600">
                <a:solidFill>
                  <a:schemeClr val="dk1"/>
                </a:solidFill>
                <a:latin typeface="Georgia"/>
                <a:ea typeface="Georgia"/>
                <a:cs typeface="Georgia"/>
                <a:sym typeface="Georgia"/>
              </a:rPr>
              <a:t> Observamos diferencias notables en el porcentaje de desvinculación según el rango de edad. Los rangos de edad más jóvenes (0-5 y 6-11) parecen tener un porcentaje de desvinculación ligeramente menor en comparación con los adolescentes (12-14 y 15-17). La categoría 'No especificado' en edad presenta un porcentaje de desvinculación significativamente mayor, lo que podría indicar un sesgo en los datos o la necesidad de investigar más a fondo estos casos.</a:t>
            </a:r>
            <a:endParaRPr>
              <a:latin typeface="Georgia"/>
              <a:ea typeface="Georgia"/>
              <a:cs typeface="Georgia"/>
              <a:sym typeface="Georgia"/>
            </a:endParaRPr>
          </a:p>
          <a:p>
            <a:pPr marL="0" marR="0" lvl="0" indent="165100" algn="l" rtl="0">
              <a:lnSpc>
                <a:spcPct val="90000"/>
              </a:lnSpc>
              <a:spcBef>
                <a:spcPts val="600"/>
              </a:spcBef>
              <a:spcAft>
                <a:spcPts val="0"/>
              </a:spcAft>
              <a:buClr>
                <a:schemeClr val="dk1"/>
              </a:buClr>
              <a:buSzPts val="2600"/>
              <a:buFont typeface="Arial"/>
              <a:buNone/>
            </a:pPr>
            <a:endParaRPr sz="2600">
              <a:solidFill>
                <a:schemeClr val="dk1"/>
              </a:solidFill>
              <a:latin typeface="Calibri"/>
              <a:ea typeface="Calibri"/>
              <a:cs typeface="Calibri"/>
              <a:sym typeface="Calibri"/>
            </a:endParaRPr>
          </a:p>
        </p:txBody>
      </p:sp>
      <p:sp>
        <p:nvSpPr>
          <p:cNvPr id="323" name="Google Shape;323;p31"/>
          <p:cNvSpPr/>
          <p:nvPr/>
        </p:nvSpPr>
        <p:spPr>
          <a:xfrm>
            <a:off x="7848601" y="1333500"/>
            <a:ext cx="9474222" cy="7391400"/>
          </a:xfrm>
          <a:custGeom>
            <a:avLst/>
            <a:gdLst/>
            <a:ahLst/>
            <a:cxnLst/>
            <a:rect l="l" t="t" r="r" b="b"/>
            <a:pathLst>
              <a:path w="13917549" h="8569833" extrusionOk="0">
                <a:moveTo>
                  <a:pt x="0" y="0"/>
                </a:moveTo>
                <a:lnTo>
                  <a:pt x="13917549" y="0"/>
                </a:lnTo>
                <a:lnTo>
                  <a:pt x="13917549" y="8569833"/>
                </a:lnTo>
                <a:lnTo>
                  <a:pt x="0" y="8569833"/>
                </a:lnTo>
                <a:lnTo>
                  <a:pt x="0" y="0"/>
                </a:lnTo>
                <a:close/>
              </a:path>
            </a:pathLst>
          </a:custGeom>
          <a:blipFill rotWithShape="1">
            <a:blip r:embed="rId3">
              <a:alphaModFix/>
            </a:blip>
            <a:stretch>
              <a:fillRect l="-3150" r="-315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7"/>
        <p:cNvGrpSpPr/>
        <p:nvPr/>
      </p:nvGrpSpPr>
      <p:grpSpPr>
        <a:xfrm>
          <a:off x="0" y="0"/>
          <a:ext cx="0" cy="0"/>
          <a:chOff x="0" y="0"/>
          <a:chExt cx="0" cy="0"/>
        </a:xfrm>
      </p:grpSpPr>
      <p:sp>
        <p:nvSpPr>
          <p:cNvPr id="328" name="Google Shape;328;p32"/>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9" name="Google Shape;329;p32"/>
          <p:cNvSpPr/>
          <p:nvPr/>
        </p:nvSpPr>
        <p:spPr>
          <a:xfrm flipH="1">
            <a:off x="924799" y="2917369"/>
            <a:ext cx="6035040" cy="4114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0" name="Google Shape;330;p32"/>
          <p:cNvSpPr txBox="1"/>
          <p:nvPr/>
        </p:nvSpPr>
        <p:spPr>
          <a:xfrm>
            <a:off x="967599" y="3046651"/>
            <a:ext cx="6424476" cy="526791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700"/>
              <a:buFont typeface="Arial"/>
              <a:buChar char="•"/>
            </a:pPr>
            <a:r>
              <a:rPr lang="en-US" sz="2700" b="1">
                <a:solidFill>
                  <a:schemeClr val="dk1"/>
                </a:solidFill>
                <a:latin typeface="Georgia"/>
                <a:ea typeface="Georgia"/>
                <a:cs typeface="Georgia"/>
                <a:sym typeface="Georgia"/>
              </a:rPr>
              <a:t>ESTRATO_SOCIOECONÓMICO:</a:t>
            </a:r>
            <a:r>
              <a:rPr lang="en-US" sz="2700">
                <a:solidFill>
                  <a:schemeClr val="dk1"/>
                </a:solidFill>
                <a:latin typeface="Georgia"/>
                <a:ea typeface="Georgia"/>
                <a:cs typeface="Georgia"/>
                <a:sym typeface="Georgia"/>
              </a:rPr>
              <a:t> El estrato 'No especificado' presenta el porcentaje más alto de desvinculación. Entre los estratos definidos, el estrato '2. Bajo' tiene un porcentaje de desvinculación ligeramente superior a los estratos '1. Bajo-bajo' y '3. Medio-bajo'.</a:t>
            </a:r>
            <a:endParaRPr>
              <a:latin typeface="Georgia"/>
              <a:ea typeface="Georgia"/>
              <a:cs typeface="Georgia"/>
              <a:sym typeface="Georgia"/>
            </a:endParaRPr>
          </a:p>
          <a:p>
            <a:pPr marL="0" marR="0" lvl="0" indent="171450" algn="l" rtl="0">
              <a:lnSpc>
                <a:spcPct val="90000"/>
              </a:lnSpc>
              <a:spcBef>
                <a:spcPts val="600"/>
              </a:spcBef>
              <a:spcAft>
                <a:spcPts val="0"/>
              </a:spcAft>
              <a:buClr>
                <a:schemeClr val="dk1"/>
              </a:buClr>
              <a:buSzPts val="2700"/>
              <a:buFont typeface="Arial"/>
              <a:buNone/>
            </a:pPr>
            <a:endParaRPr sz="2700">
              <a:solidFill>
                <a:schemeClr val="dk1"/>
              </a:solidFill>
              <a:latin typeface="Calibri"/>
              <a:ea typeface="Calibri"/>
              <a:cs typeface="Calibri"/>
              <a:sym typeface="Calibri"/>
            </a:endParaRPr>
          </a:p>
        </p:txBody>
      </p:sp>
      <p:sp>
        <p:nvSpPr>
          <p:cNvPr id="331" name="Google Shape;331;p32"/>
          <p:cNvSpPr/>
          <p:nvPr/>
        </p:nvSpPr>
        <p:spPr>
          <a:xfrm rot="5400000">
            <a:off x="-338765" y="9080040"/>
            <a:ext cx="1110996" cy="23118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32"/>
          <p:cNvSpPr/>
          <p:nvPr/>
        </p:nvSpPr>
        <p:spPr>
          <a:xfrm rot="5400000">
            <a:off x="8857385" y="322802"/>
            <a:ext cx="1110996" cy="1775023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32"/>
          <p:cNvSpPr/>
          <p:nvPr/>
        </p:nvSpPr>
        <p:spPr>
          <a:xfrm>
            <a:off x="8545189" y="532438"/>
            <a:ext cx="9277460" cy="887281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32"/>
          <p:cNvSpPr/>
          <p:nvPr/>
        </p:nvSpPr>
        <p:spPr>
          <a:xfrm>
            <a:off x="7392075" y="2294618"/>
            <a:ext cx="10031527" cy="6658881"/>
          </a:xfrm>
          <a:custGeom>
            <a:avLst/>
            <a:gdLst/>
            <a:ahLst/>
            <a:cxnLst/>
            <a:rect l="l" t="t" r="r" b="b"/>
            <a:pathLst>
              <a:path w="15245207" h="9658604" extrusionOk="0">
                <a:moveTo>
                  <a:pt x="0" y="0"/>
                </a:moveTo>
                <a:lnTo>
                  <a:pt x="15245207" y="0"/>
                </a:lnTo>
                <a:lnTo>
                  <a:pt x="15245207" y="9658604"/>
                </a:lnTo>
                <a:lnTo>
                  <a:pt x="0" y="9658604"/>
                </a:lnTo>
                <a:lnTo>
                  <a:pt x="0" y="0"/>
                </a:lnTo>
                <a:close/>
              </a:path>
            </a:pathLst>
          </a:custGeom>
          <a:blipFill rotWithShape="1">
            <a:blip r:embed="rId3">
              <a:alphaModFix/>
            </a:blip>
            <a:stretch>
              <a:fillRect l="-5058" r="-505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8"/>
        <p:cNvGrpSpPr/>
        <p:nvPr/>
      </p:nvGrpSpPr>
      <p:grpSpPr>
        <a:xfrm>
          <a:off x="0" y="0"/>
          <a:ext cx="0" cy="0"/>
          <a:chOff x="0" y="0"/>
          <a:chExt cx="0" cy="0"/>
        </a:xfrm>
      </p:grpSpPr>
      <p:sp>
        <p:nvSpPr>
          <p:cNvPr id="339" name="Google Shape;339;p33"/>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33"/>
          <p:cNvSpPr/>
          <p:nvPr/>
        </p:nvSpPr>
        <p:spPr>
          <a:xfrm flipH="1">
            <a:off x="924799" y="2917369"/>
            <a:ext cx="6035040" cy="4114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33"/>
          <p:cNvSpPr txBox="1"/>
          <p:nvPr/>
        </p:nvSpPr>
        <p:spPr>
          <a:xfrm>
            <a:off x="967599" y="3046651"/>
            <a:ext cx="6424476" cy="5267915"/>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Clr>
                <a:schemeClr val="dk1"/>
              </a:buClr>
              <a:buSzPts val="2300"/>
              <a:buFont typeface="Arial"/>
              <a:buChar char="•"/>
            </a:pPr>
            <a:r>
              <a:rPr lang="en-US" sz="2300" b="1">
                <a:solidFill>
                  <a:schemeClr val="dk1"/>
                </a:solidFill>
                <a:latin typeface="Georgia"/>
                <a:ea typeface="Georgia"/>
                <a:cs typeface="Georgia"/>
                <a:sym typeface="Georgia"/>
              </a:rPr>
              <a:t>LOCALIDAD:</a:t>
            </a:r>
            <a:r>
              <a:rPr lang="en-US" sz="2300">
                <a:solidFill>
                  <a:schemeClr val="dk1"/>
                </a:solidFill>
                <a:latin typeface="Georgia"/>
                <a:ea typeface="Georgia"/>
                <a:cs typeface="Georgia"/>
                <a:sym typeface="Georgia"/>
              </a:rPr>
              <a:t> El porcentaje de NNA desvinculados varía considerablemente entre localidades. Algunas localidades como Usme, Suba, y Engativá muestran porcentajes de desvinculación más altos entre las top 15 localidades con más registros, mientras que otras como Ciudad Bolívar y Antonio Nariño tienen porcentajes más bajos. Esto sugiere que la ubicación geográfica es un factor importante y que las estrategias de intervención podrían necesitar ajustarse a las particularidades de cada localidad. La categoría '99999' en Localidad presenta un porcentaje de desvinculación muy bajo, lo que refuerza la idea de que son datos atípicos o no corresponden a una localidad real.</a:t>
            </a:r>
            <a:endParaRPr>
              <a:latin typeface="Georgia"/>
              <a:ea typeface="Georgia"/>
              <a:cs typeface="Georgia"/>
              <a:sym typeface="Georgia"/>
            </a:endParaRPr>
          </a:p>
          <a:p>
            <a:pPr marL="0" marR="0" lvl="0" indent="146050" algn="l" rtl="0">
              <a:lnSpc>
                <a:spcPct val="90000"/>
              </a:lnSpc>
              <a:spcBef>
                <a:spcPts val="600"/>
              </a:spcBef>
              <a:spcAft>
                <a:spcPts val="0"/>
              </a:spcAft>
              <a:buClr>
                <a:schemeClr val="dk1"/>
              </a:buClr>
              <a:buSzPts val="2300"/>
              <a:buFont typeface="Arial"/>
              <a:buNone/>
            </a:pPr>
            <a:endParaRPr sz="2300">
              <a:solidFill>
                <a:schemeClr val="dk1"/>
              </a:solidFill>
              <a:latin typeface="Calibri"/>
              <a:ea typeface="Calibri"/>
              <a:cs typeface="Calibri"/>
              <a:sym typeface="Calibri"/>
            </a:endParaRPr>
          </a:p>
        </p:txBody>
      </p:sp>
      <p:sp>
        <p:nvSpPr>
          <p:cNvPr id="342" name="Google Shape;342;p33"/>
          <p:cNvSpPr/>
          <p:nvPr/>
        </p:nvSpPr>
        <p:spPr>
          <a:xfrm rot="5400000">
            <a:off x="-338765" y="9080040"/>
            <a:ext cx="1110996" cy="23118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33"/>
          <p:cNvSpPr/>
          <p:nvPr/>
        </p:nvSpPr>
        <p:spPr>
          <a:xfrm rot="5400000">
            <a:off x="8857385" y="322802"/>
            <a:ext cx="1110996" cy="1775023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33"/>
          <p:cNvSpPr/>
          <p:nvPr/>
        </p:nvSpPr>
        <p:spPr>
          <a:xfrm>
            <a:off x="8545189" y="532438"/>
            <a:ext cx="9277460" cy="887281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33"/>
          <p:cNvSpPr/>
          <p:nvPr/>
        </p:nvSpPr>
        <p:spPr>
          <a:xfrm>
            <a:off x="8981607" y="2263180"/>
            <a:ext cx="8442021" cy="5411370"/>
          </a:xfrm>
          <a:custGeom>
            <a:avLst/>
            <a:gdLst/>
            <a:ahLst/>
            <a:cxnLst/>
            <a:rect l="l" t="t" r="r" b="b"/>
            <a:pathLst>
              <a:path w="14343380" h="9194165" extrusionOk="0">
                <a:moveTo>
                  <a:pt x="0" y="0"/>
                </a:moveTo>
                <a:lnTo>
                  <a:pt x="14343380" y="0"/>
                </a:lnTo>
                <a:lnTo>
                  <a:pt x="14343380" y="9194165"/>
                </a:lnTo>
                <a:lnTo>
                  <a:pt x="0" y="9194165"/>
                </a:lnTo>
                <a:lnTo>
                  <a:pt x="0" y="0"/>
                </a:lnTo>
                <a:close/>
              </a:path>
            </a:pathLst>
          </a:custGeom>
          <a:blipFill rotWithShape="1">
            <a:blip r:embed="rId3">
              <a:alphaModFix/>
            </a:blip>
            <a:stretch>
              <a:fillRect l="-6609" r="-66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9"/>
        <p:cNvGrpSpPr/>
        <p:nvPr/>
      </p:nvGrpSpPr>
      <p:grpSpPr>
        <a:xfrm>
          <a:off x="0" y="0"/>
          <a:ext cx="0" cy="0"/>
          <a:chOff x="0" y="0"/>
          <a:chExt cx="0" cy="0"/>
        </a:xfrm>
      </p:grpSpPr>
      <p:sp>
        <p:nvSpPr>
          <p:cNvPr id="350" name="Google Shape;350;p34"/>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34"/>
          <p:cNvSpPr/>
          <p:nvPr/>
        </p:nvSpPr>
        <p:spPr>
          <a:xfrm flipH="1">
            <a:off x="924799" y="2917369"/>
            <a:ext cx="6035040" cy="4114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2" name="Google Shape;352;p34"/>
          <p:cNvSpPr txBox="1"/>
          <p:nvPr/>
        </p:nvSpPr>
        <p:spPr>
          <a:xfrm>
            <a:off x="967599" y="3046651"/>
            <a:ext cx="6424476" cy="526791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700"/>
              <a:buFont typeface="Arial"/>
              <a:buChar char="•"/>
            </a:pPr>
            <a:r>
              <a:rPr lang="en-US" sz="2700" b="1">
                <a:solidFill>
                  <a:schemeClr val="dk1"/>
                </a:solidFill>
                <a:latin typeface="Georgia"/>
                <a:ea typeface="Georgia"/>
                <a:cs typeface="Georgia"/>
                <a:sym typeface="Georgia"/>
              </a:rPr>
              <a:t>SEXO:</a:t>
            </a:r>
            <a:r>
              <a:rPr lang="en-US" sz="2700">
                <a:solidFill>
                  <a:schemeClr val="dk1"/>
                </a:solidFill>
                <a:latin typeface="Georgia"/>
                <a:ea typeface="Georgia"/>
                <a:cs typeface="Georgia"/>
                <a:sym typeface="Georgia"/>
              </a:rPr>
              <a:t> Los porcentajes de desvinculación y "En proceso / Sin cambio" son bastante similares entre hombres y mujeres. La categoría 'No especificado' en sexo tiene un porcentaje de desvinculación notablemente más alto, similar a lo observado en el rango de edad 'No especificado'.</a:t>
            </a:r>
            <a:endParaRPr>
              <a:latin typeface="Georgia"/>
              <a:ea typeface="Georgia"/>
              <a:cs typeface="Georgia"/>
              <a:sym typeface="Georgia"/>
            </a:endParaRPr>
          </a:p>
          <a:p>
            <a:pPr marL="0" marR="0" lvl="0" indent="171450" algn="l" rtl="0">
              <a:lnSpc>
                <a:spcPct val="90000"/>
              </a:lnSpc>
              <a:spcBef>
                <a:spcPts val="600"/>
              </a:spcBef>
              <a:spcAft>
                <a:spcPts val="0"/>
              </a:spcAft>
              <a:buClr>
                <a:schemeClr val="dk1"/>
              </a:buClr>
              <a:buSzPts val="2700"/>
              <a:buFont typeface="Arial"/>
              <a:buNone/>
            </a:pPr>
            <a:endParaRPr sz="2700">
              <a:solidFill>
                <a:schemeClr val="dk1"/>
              </a:solidFill>
              <a:latin typeface="Calibri"/>
              <a:ea typeface="Calibri"/>
              <a:cs typeface="Calibri"/>
              <a:sym typeface="Calibri"/>
            </a:endParaRPr>
          </a:p>
        </p:txBody>
      </p:sp>
      <p:sp>
        <p:nvSpPr>
          <p:cNvPr id="353" name="Google Shape;353;p34"/>
          <p:cNvSpPr/>
          <p:nvPr/>
        </p:nvSpPr>
        <p:spPr>
          <a:xfrm rot="5400000">
            <a:off x="-338765" y="9080040"/>
            <a:ext cx="1110996" cy="23118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4" name="Google Shape;354;p34"/>
          <p:cNvSpPr/>
          <p:nvPr/>
        </p:nvSpPr>
        <p:spPr>
          <a:xfrm rot="5400000">
            <a:off x="8857385" y="322802"/>
            <a:ext cx="1110996" cy="1775023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34"/>
          <p:cNvSpPr/>
          <p:nvPr/>
        </p:nvSpPr>
        <p:spPr>
          <a:xfrm>
            <a:off x="8545189" y="532438"/>
            <a:ext cx="9277460" cy="887281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6" name="Google Shape;356;p34"/>
          <p:cNvSpPr/>
          <p:nvPr/>
        </p:nvSpPr>
        <p:spPr>
          <a:xfrm>
            <a:off x="7696201" y="2631231"/>
            <a:ext cx="9727428" cy="4675253"/>
          </a:xfrm>
          <a:custGeom>
            <a:avLst/>
            <a:gdLst/>
            <a:ahLst/>
            <a:cxnLst/>
            <a:rect l="l" t="t" r="r" b="b"/>
            <a:pathLst>
              <a:path w="14343380" h="7943469" extrusionOk="0">
                <a:moveTo>
                  <a:pt x="0" y="0"/>
                </a:moveTo>
                <a:lnTo>
                  <a:pt x="14343380" y="0"/>
                </a:lnTo>
                <a:lnTo>
                  <a:pt x="14343380" y="7943469"/>
                </a:lnTo>
                <a:lnTo>
                  <a:pt x="0" y="7943469"/>
                </a:lnTo>
                <a:lnTo>
                  <a:pt x="0" y="0"/>
                </a:lnTo>
                <a:close/>
              </a:path>
            </a:pathLst>
          </a:custGeom>
          <a:blipFill rotWithShape="1">
            <a:blip r:embed="rId3">
              <a:alphaModFix/>
            </a:blip>
            <a:stretch>
              <a:fillRect t="-1927" b="-19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0"/>
        <p:cNvGrpSpPr/>
        <p:nvPr/>
      </p:nvGrpSpPr>
      <p:grpSpPr>
        <a:xfrm>
          <a:off x="0" y="0"/>
          <a:ext cx="0" cy="0"/>
          <a:chOff x="0" y="0"/>
          <a:chExt cx="0" cy="0"/>
        </a:xfrm>
      </p:grpSpPr>
      <p:sp>
        <p:nvSpPr>
          <p:cNvPr id="361" name="Google Shape;361;p35"/>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2" name="Google Shape;362;p35"/>
          <p:cNvSpPr/>
          <p:nvPr/>
        </p:nvSpPr>
        <p:spPr>
          <a:xfrm>
            <a:off x="0" y="0"/>
            <a:ext cx="18288000" cy="3220224"/>
          </a:xfrm>
          <a:prstGeom prst="rect">
            <a:avLst/>
          </a:prstGeom>
          <a:solidFill>
            <a:srgbClr val="D8D8D8">
              <a:alpha val="3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3" name="Google Shape;363;p35"/>
          <p:cNvSpPr txBox="1"/>
          <p:nvPr/>
        </p:nvSpPr>
        <p:spPr>
          <a:xfrm>
            <a:off x="881983" y="3930961"/>
            <a:ext cx="5442618" cy="4535553"/>
          </a:xfrm>
          <a:prstGeom prst="rect">
            <a:avLst/>
          </a:prstGeom>
          <a:noFill/>
          <a:ln>
            <a:noFill/>
          </a:ln>
        </p:spPr>
        <p:txBody>
          <a:bodyPr spcFirstLastPara="1" wrap="square" lIns="91425" tIns="45700" rIns="91425" bIns="45700" anchor="ctr" anchorCtr="0">
            <a:normAutofit fontScale="85000" lnSpcReduction="10000"/>
          </a:bodyPr>
          <a:lstStyle/>
          <a:p>
            <a:pPr marL="0" marR="0" lvl="0" indent="14287" algn="l" rtl="0">
              <a:lnSpc>
                <a:spcPct val="90000"/>
              </a:lnSpc>
              <a:spcBef>
                <a:spcPts val="0"/>
              </a:spcBef>
              <a:spcAft>
                <a:spcPts val="0"/>
              </a:spcAft>
              <a:buClr>
                <a:schemeClr val="dk1"/>
              </a:buClr>
              <a:buSzPct val="100000"/>
              <a:buFont typeface="Arial"/>
              <a:buChar char="•"/>
            </a:pPr>
            <a:r>
              <a:rPr lang="en-US" sz="3000" b="1">
                <a:solidFill>
                  <a:schemeClr val="dk1"/>
                </a:solidFill>
                <a:latin typeface="Georgia"/>
                <a:ea typeface="Georgia"/>
                <a:cs typeface="Georgia"/>
                <a:sym typeface="Georgia"/>
              </a:rPr>
              <a:t>AFILIACIÓN_AL_SGSSS:</a:t>
            </a:r>
            <a:r>
              <a:rPr lang="en-US" sz="3000">
                <a:solidFill>
                  <a:schemeClr val="dk1"/>
                </a:solidFill>
                <a:latin typeface="Georgia"/>
                <a:ea typeface="Georgia"/>
                <a:cs typeface="Georgia"/>
                <a:sym typeface="Georgia"/>
              </a:rPr>
              <a:t> Los NNA afiliados al régimen 'Contributivo' muestran un porcentaje de desvinculación más alto en comparación con otros regímenes de afiliación como el 'Subsidiado' o 'No asegurado'. Esto podría ser un hallazgo interesante para explorar las posibles razones detrás de esta diferencia. La categoría 'No especificado' también tiene un porcentaje de desvinculación relativamente alto.</a:t>
            </a:r>
            <a:endParaRPr>
              <a:latin typeface="Georgia"/>
              <a:ea typeface="Georgia"/>
              <a:cs typeface="Georgia"/>
              <a:sym typeface="Georgia"/>
            </a:endParaRPr>
          </a:p>
          <a:p>
            <a:pPr marL="0" marR="0" lvl="0" indent="176212" algn="l" rtl="0">
              <a:lnSpc>
                <a:spcPct val="90000"/>
              </a:lnSpc>
              <a:spcBef>
                <a:spcPts val="600"/>
              </a:spcBef>
              <a:spcAft>
                <a:spcPts val="0"/>
              </a:spcAft>
              <a:buClr>
                <a:schemeClr val="dk1"/>
              </a:buClr>
              <a:buSzPct val="100000"/>
              <a:buFont typeface="Arial"/>
              <a:buNone/>
            </a:pPr>
            <a:endParaRPr sz="3000">
              <a:solidFill>
                <a:schemeClr val="dk1"/>
              </a:solidFill>
              <a:latin typeface="Calibri"/>
              <a:ea typeface="Calibri"/>
              <a:cs typeface="Calibri"/>
              <a:sym typeface="Calibri"/>
            </a:endParaRPr>
          </a:p>
        </p:txBody>
      </p:sp>
      <p:sp>
        <p:nvSpPr>
          <p:cNvPr id="364" name="Google Shape;364;p35"/>
          <p:cNvSpPr/>
          <p:nvPr/>
        </p:nvSpPr>
        <p:spPr>
          <a:xfrm rot="-5400000" flipH="1">
            <a:off x="8504352" y="416868"/>
            <a:ext cx="786384" cy="1779508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35"/>
          <p:cNvSpPr/>
          <p:nvPr/>
        </p:nvSpPr>
        <p:spPr>
          <a:xfrm>
            <a:off x="10823170" y="599512"/>
            <a:ext cx="6971052" cy="871489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6" name="Google Shape;366;p35"/>
          <p:cNvSpPr/>
          <p:nvPr/>
        </p:nvSpPr>
        <p:spPr>
          <a:xfrm rot="5400000">
            <a:off x="17661278" y="9197838"/>
            <a:ext cx="786384" cy="22857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7" name="Google Shape;367;p35"/>
          <p:cNvSpPr/>
          <p:nvPr/>
        </p:nvSpPr>
        <p:spPr>
          <a:xfrm>
            <a:off x="6781800" y="1333500"/>
            <a:ext cx="10703539" cy="7009274"/>
          </a:xfrm>
          <a:custGeom>
            <a:avLst/>
            <a:gdLst/>
            <a:ahLst/>
            <a:cxnLst/>
            <a:rect l="l" t="t" r="r" b="b"/>
            <a:pathLst>
              <a:path w="14518767" h="7866126" extrusionOk="0">
                <a:moveTo>
                  <a:pt x="0" y="0"/>
                </a:moveTo>
                <a:lnTo>
                  <a:pt x="14518767" y="0"/>
                </a:lnTo>
                <a:lnTo>
                  <a:pt x="14518767" y="7866126"/>
                </a:lnTo>
                <a:lnTo>
                  <a:pt x="0" y="7866126"/>
                </a:lnTo>
                <a:lnTo>
                  <a:pt x="0" y="0"/>
                </a:lnTo>
                <a:close/>
              </a:path>
            </a:pathLst>
          </a:custGeom>
          <a:blipFill rotWithShape="1">
            <a:blip r:embed="rId3">
              <a:alphaModFix/>
            </a:blip>
            <a:stretch>
              <a:fillRect t="-2297" b="-229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1"/>
        <p:cNvGrpSpPr/>
        <p:nvPr/>
      </p:nvGrpSpPr>
      <p:grpSpPr>
        <a:xfrm>
          <a:off x="0" y="0"/>
          <a:ext cx="0" cy="0"/>
          <a:chOff x="0" y="0"/>
          <a:chExt cx="0" cy="0"/>
        </a:xfrm>
      </p:grpSpPr>
      <p:sp>
        <p:nvSpPr>
          <p:cNvPr id="372" name="Google Shape;372;p36"/>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36"/>
          <p:cNvSpPr/>
          <p:nvPr/>
        </p:nvSpPr>
        <p:spPr>
          <a:xfrm flipH="1">
            <a:off x="924799" y="2917369"/>
            <a:ext cx="6035040" cy="4114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36"/>
          <p:cNvSpPr txBox="1"/>
          <p:nvPr/>
        </p:nvSpPr>
        <p:spPr>
          <a:xfrm>
            <a:off x="967600" y="3046650"/>
            <a:ext cx="5368800" cy="52680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Clr>
                <a:schemeClr val="dk1"/>
              </a:buClr>
              <a:buSzPts val="2700"/>
              <a:buFont typeface="Arial"/>
              <a:buChar char="•"/>
            </a:pPr>
            <a:r>
              <a:rPr lang="en-US" sz="2700" b="1">
                <a:solidFill>
                  <a:schemeClr val="dk1"/>
                </a:solidFill>
                <a:latin typeface="Georgia"/>
                <a:ea typeface="Georgia"/>
                <a:cs typeface="Georgia"/>
                <a:sym typeface="Georgia"/>
              </a:rPr>
              <a:t>LUGAR_TRABAJO:</a:t>
            </a:r>
            <a:r>
              <a:rPr lang="en-US" sz="2700">
                <a:solidFill>
                  <a:schemeClr val="dk1"/>
                </a:solidFill>
                <a:latin typeface="Georgia"/>
                <a:ea typeface="Georgia"/>
                <a:cs typeface="Georgia"/>
                <a:sym typeface="Georgia"/>
              </a:rPr>
              <a:t> El porcentaje de desvinculación varía según el lugar principal de trabajo. Lugares como "En una UTI" y "En la calle, estacionario o ambulante", que concentran un alto número de casos, tienen porcentajes de desvinculación por encima del promedio general. Los casos con "No especificado" en el lugar de trabajo también muestran un alto porcentaje de desvinculación.</a:t>
            </a:r>
            <a:endParaRPr>
              <a:latin typeface="Georgia"/>
              <a:ea typeface="Georgia"/>
              <a:cs typeface="Georgia"/>
              <a:sym typeface="Georgia"/>
            </a:endParaRPr>
          </a:p>
          <a:p>
            <a:pPr marL="0" marR="0" lvl="0" indent="171450" algn="l" rtl="0">
              <a:lnSpc>
                <a:spcPct val="90000"/>
              </a:lnSpc>
              <a:spcBef>
                <a:spcPts val="600"/>
              </a:spcBef>
              <a:spcAft>
                <a:spcPts val="0"/>
              </a:spcAft>
              <a:buClr>
                <a:schemeClr val="dk1"/>
              </a:buClr>
              <a:buSzPts val="2700"/>
              <a:buFont typeface="Arial"/>
              <a:buNone/>
            </a:pPr>
            <a:endParaRPr sz="2700">
              <a:solidFill>
                <a:schemeClr val="dk1"/>
              </a:solidFill>
              <a:latin typeface="Calibri"/>
              <a:ea typeface="Calibri"/>
              <a:cs typeface="Calibri"/>
              <a:sym typeface="Calibri"/>
            </a:endParaRPr>
          </a:p>
        </p:txBody>
      </p:sp>
      <p:sp>
        <p:nvSpPr>
          <p:cNvPr id="375" name="Google Shape;375;p36"/>
          <p:cNvSpPr/>
          <p:nvPr/>
        </p:nvSpPr>
        <p:spPr>
          <a:xfrm rot="5400000">
            <a:off x="-338765" y="9080040"/>
            <a:ext cx="1110996" cy="23118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6" name="Google Shape;376;p36"/>
          <p:cNvSpPr/>
          <p:nvPr/>
        </p:nvSpPr>
        <p:spPr>
          <a:xfrm rot="5400000">
            <a:off x="8857385" y="322802"/>
            <a:ext cx="1110996" cy="1775023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7" name="Google Shape;377;p36"/>
          <p:cNvSpPr/>
          <p:nvPr/>
        </p:nvSpPr>
        <p:spPr>
          <a:xfrm>
            <a:off x="8545189" y="532438"/>
            <a:ext cx="9277460" cy="887281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8" name="Google Shape;378;p36"/>
          <p:cNvSpPr/>
          <p:nvPr/>
        </p:nvSpPr>
        <p:spPr>
          <a:xfrm>
            <a:off x="6959839" y="1339596"/>
            <a:ext cx="10463816" cy="7300539"/>
          </a:xfrm>
          <a:custGeom>
            <a:avLst/>
            <a:gdLst/>
            <a:ahLst/>
            <a:cxnLst/>
            <a:rect l="l" t="t" r="r" b="b"/>
            <a:pathLst>
              <a:path w="14694154" h="9144000" extrusionOk="0">
                <a:moveTo>
                  <a:pt x="0" y="0"/>
                </a:moveTo>
                <a:lnTo>
                  <a:pt x="14694154" y="0"/>
                </a:lnTo>
                <a:lnTo>
                  <a:pt x="14694154" y="9144000"/>
                </a:lnTo>
                <a:lnTo>
                  <a:pt x="0" y="9144000"/>
                </a:lnTo>
                <a:lnTo>
                  <a:pt x="0" y="0"/>
                </a:lnTo>
                <a:close/>
              </a:path>
            </a:pathLst>
          </a:custGeom>
          <a:blipFill rotWithShape="1">
            <a:blip r:embed="rId3">
              <a:alphaModFix/>
            </a:blip>
            <a:stretch>
              <a:fillRect l="-4435" r="-443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2"/>
        <p:cNvGrpSpPr/>
        <p:nvPr/>
      </p:nvGrpSpPr>
      <p:grpSpPr>
        <a:xfrm>
          <a:off x="0" y="0"/>
          <a:ext cx="0" cy="0"/>
          <a:chOff x="0" y="0"/>
          <a:chExt cx="0" cy="0"/>
        </a:xfrm>
      </p:grpSpPr>
      <p:sp>
        <p:nvSpPr>
          <p:cNvPr id="383" name="Google Shape;383;p37"/>
          <p:cNvSpPr/>
          <p:nvPr/>
        </p:nvSpPr>
        <p:spPr>
          <a:xfrm>
            <a:off x="0" y="0"/>
            <a:ext cx="18287998" cy="102860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84" name="Google Shape;384;p37"/>
          <p:cNvGrpSpPr/>
          <p:nvPr/>
        </p:nvGrpSpPr>
        <p:grpSpPr>
          <a:xfrm>
            <a:off x="-4" y="2997552"/>
            <a:ext cx="17542625" cy="1173264"/>
            <a:chOff x="-2" y="1998368"/>
            <a:chExt cx="11695083" cy="782176"/>
          </a:xfrm>
        </p:grpSpPr>
        <p:sp>
          <p:nvSpPr>
            <p:cNvPr id="385" name="Google Shape;385;p37"/>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37"/>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387" name="Google Shape;387;p37"/>
          <p:cNvSpPr/>
          <p:nvPr/>
        </p:nvSpPr>
        <p:spPr>
          <a:xfrm>
            <a:off x="0" y="3304618"/>
            <a:ext cx="17075043" cy="6221768"/>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8" name="Google Shape;388;p37"/>
          <p:cNvSpPr txBox="1"/>
          <p:nvPr/>
        </p:nvSpPr>
        <p:spPr>
          <a:xfrm>
            <a:off x="1190490" y="3899263"/>
            <a:ext cx="15215502" cy="5153297"/>
          </a:xfrm>
          <a:prstGeom prst="rect">
            <a:avLst/>
          </a:prstGeom>
          <a:noFill/>
          <a:ln>
            <a:noFill/>
          </a:ln>
        </p:spPr>
        <p:txBody>
          <a:bodyPr spcFirstLastPara="1" wrap="square" lIns="91425" tIns="45700" rIns="91425" bIns="45700" anchor="ctr" anchorCtr="0">
            <a:normAutofit/>
          </a:bodyPr>
          <a:lstStyle/>
          <a:p>
            <a:pPr marL="760095" marR="0" lvl="1" indent="-228600" algn="l" rtl="0">
              <a:lnSpc>
                <a:spcPct val="90000"/>
              </a:lnSpc>
              <a:spcBef>
                <a:spcPts val="0"/>
              </a:spcBef>
              <a:spcAft>
                <a:spcPts val="0"/>
              </a:spcAft>
              <a:buClr>
                <a:schemeClr val="dk1"/>
              </a:buClr>
              <a:buSzPts val="3600"/>
              <a:buFont typeface="Georgia"/>
              <a:buChar char="•"/>
            </a:pPr>
            <a:r>
              <a:rPr lang="en-US" sz="3600" i="0" u="none" strike="noStrike" cap="none">
                <a:solidFill>
                  <a:schemeClr val="dk1"/>
                </a:solidFill>
                <a:latin typeface="Georgia"/>
                <a:ea typeface="Georgia"/>
                <a:cs typeface="Georgia"/>
                <a:sym typeface="Georgia"/>
              </a:rPr>
              <a:t>En resumen, los análisis sugieren que tanto las variables demográficas (edad, sexo - especialmente en categorías no especificadas) como las geográficas (localidad) y socioeconómicas (estrato, afiliación a salud, lugar de trabajo) están relacionadas con el estado del resultado de la intervención. Las categorías "No especificado" en varias variables presentan un comportamiento atípico con porcentajes de desvinculación más altos, lo que justifica una revisión de la calidad o el significado de estos datos.</a:t>
            </a:r>
            <a:endParaRPr>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1060</Words>
  <Application>Microsoft Office PowerPoint</Application>
  <PresentationFormat>Personalizado</PresentationFormat>
  <Paragraphs>52</Paragraphs>
  <Slides>25</Slides>
  <Notes>25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yeimy Alarcon</cp:lastModifiedBy>
  <cp:revision>1</cp:revision>
  <dcterms:modified xsi:type="dcterms:W3CDTF">2025-10-18T00:11:35Z</dcterms:modified>
</cp:coreProperties>
</file>